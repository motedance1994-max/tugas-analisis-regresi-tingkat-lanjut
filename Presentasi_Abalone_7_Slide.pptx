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63" r:id="rId3"/>
    <p:sldId id="257" r:id="rId4"/>
    <p:sldId id="258" r:id="rId5"/>
    <p:sldId id="259" r:id="rId6"/>
    <p:sldId id="260" r:id="rId7"/>
    <p:sldId id="261" r:id="rId8"/>
    <p:sldId id="262"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980" autoAdjust="0"/>
  </p:normalViewPr>
  <p:slideViewPr>
    <p:cSldViewPr snapToGrid="0" snapToObjects="1">
      <p:cViewPr varScale="1">
        <p:scale>
          <a:sx n="81" d="100"/>
          <a:sy n="81" d="100"/>
        </p:scale>
        <p:origin x="665" y="3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556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Anggota 1 • 50 detik. Kami membandingkan dua tujuan analisis pada data Abalone, yaitu inferensi dan prediksi. Target kami adalah Rings, bukan umur biologis yang langsung terukur. Fokusnya satu: memahami asosiasi morfologi dengan Rings sekaligus mengukur kemampuan memprediksi observasi baru. Pada analisis inferensial kami membahas parameter dan ketidakpastiannya. Pada analisis prediktif kami membahas galat pada data yang tidak dipakai melatih model. Model kompleks tidak otomatis lebih baik untuk kedua tujuan.</a:t>
            </a:r>
          </a:p>
          <a:p>
            <a:r>
              <a:t>Sebutkan bahwa seluruh angka empiris pendamping diperoleh dari Python. Protokol split mengikuti skrip R asli, tetapi eksekusi R belum tersedia. Isikan nama dua anggota sebelum tampil.</a:t>
            </a:r>
          </a:p>
          <a:p>
            <a:endParaRPr/>
          </a:p>
          <a:p>
            <a:r>
              <a:t>SUMBER / CATATAN: CSV unggahan; skrip R unggahan baris 4–7 dan 112–127. Nash et al. (1994), UCI, https://archive.ics.uci.edu/dataset/1/abalone. Jumlah baris dari audit file; bukan sensus populasi.</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BF3CB-A278-1193-81AD-B69EE7664F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E8CE2C-0F50-EB0A-C206-91306182780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D677C68-D3CE-C7E1-32E1-81B67DDDED07}"/>
              </a:ext>
            </a:extLst>
          </p:cNvPr>
          <p:cNvSpPr>
            <a:spLocks noGrp="1"/>
          </p:cNvSpPr>
          <p:nvPr>
            <p:ph type="body" sz="quarter" idx="3"/>
          </p:nvPr>
        </p:nvSpPr>
        <p:spPr/>
        <p:txBody>
          <a:bodyPr/>
          <a:lstStyle/>
          <a:p>
            <a:r>
              <a:t>Anggota 1 • 50 detik. Kami membandingkan dua tujuan analisis pada data Abalone, yaitu inferensi dan prediksi. Target kami adalah Rings, bukan umur biologis yang langsung terukur. Fokusnya satu: memahami asosiasi morfologi dengan Rings sekaligus mengukur kemampuan memprediksi observasi baru. Pada analisis inferensial kami membahas parameter dan ketidakpastiannya. Pada analisis prediktif kami membahas galat pada data yang tidak dipakai melatih model. Model kompleks tidak otomatis lebih baik untuk kedua tujuan.</a:t>
            </a:r>
          </a:p>
          <a:p>
            <a:r>
              <a:t>Sebutkan bahwa seluruh angka empiris pendamping diperoleh dari Python. Protokol split mengikuti skrip R asli, tetapi eksekusi R belum tersedia. Isikan nama dua anggota sebelum tampil.</a:t>
            </a:r>
          </a:p>
          <a:p>
            <a:endParaRPr/>
          </a:p>
          <a:p>
            <a:r>
              <a:t>SUMBER / CATATAN: CSV unggahan; skrip R unggahan baris 4–7 dan 112–127. Nash et al. (1994), UCI, https://archive.ics.uci.edu/dataset/1/abalone. Jumlah baris dari audit file; bukan sensus populasi.</a:t>
            </a:r>
          </a:p>
        </p:txBody>
      </p:sp>
      <p:sp>
        <p:nvSpPr>
          <p:cNvPr id="4" name="Slide Number Placeholder 3">
            <a:extLst>
              <a:ext uri="{FF2B5EF4-FFF2-40B4-BE49-F238E27FC236}">
                <a16:creationId xmlns:a16="http://schemas.microsoft.com/office/drawing/2014/main" id="{F15DCDC4-2B99-46AC-3D0C-FCE9BC2DB3C6}"/>
              </a:ext>
            </a:extLst>
          </p:cNvPr>
          <p:cNvSpPr>
            <a:spLocks noGrp="1"/>
          </p:cNvSpPr>
          <p:nvPr>
            <p:ph type="sldNum" sz="quarter" idx="5"/>
          </p:nvPr>
        </p:nvSpPr>
        <p:spPr/>
      </p:sp>
    </p:spTree>
    <p:extLst>
      <p:ext uri="{BB962C8B-B14F-4D97-AF65-F5344CB8AC3E}">
        <p14:creationId xmlns:p14="http://schemas.microsoft.com/office/powerpoint/2010/main" val="23049485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Anggota 1 • 70 detik. Inferensi menanyakan apa yang berasosiasi, seberapa besar, dan seberapa pasti. Contohnya: apakah kenaikan Shell_weight berhubungan dengan kenaikan rerata Rings? Prediksi menanyakan seberapa dekat prediksi dengan nilai aktual pada observasi baru. Karena tujuannya berbeda, keluarannya berbeda: koefisien dan interval kepercayaan dibandingkan dengan MAE, RMSE, serta R² uji. Regresi linear dapat digunakan pada kedua jalur. Random Forest menjadi benchmark prediksi, tetapi kepentingan fiturnya tidak menggantikan uji hipotesis atau membuktikan sebab-akibat.</a:t>
            </a:r>
          </a:p>
          <a:p>
            <a:r>
              <a:t>Contoh spontan: nilai p sangat kecil tidak selalu berarti tambahan variabel menurunkan galat secara berarti.</a:t>
            </a:r>
          </a:p>
          <a:p>
            <a:endParaRPr/>
          </a:p>
          <a:p>
            <a:r>
              <a:t>SUMBER / CATATAN: Shmueli (2010), To Explain or to Predict?, Statistical Science 25(3):289–310. Breiman (2001), Random Forests, Machine Learning45:5–32. Inferensi proyek dibatasi pada asosiasi observasional.</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Anggota 1 • 60 detik. Ada 4.177 observasi, delapan prediktor, dan satu target. Prediktor terdiri atas Sex serta Length, Diameter, Height, Whole_weight, Shucked_weight, Viscera_weight, Shell_weight. I adalah infant, bukan jenis kelamin ketiga. M=1.528, I=1.342, F=1.307. Tidak ditemukan missing atau duplikat persis pada CSV. Empat baris memenuhi aturan audit Height&lt;=0 atau&gt;0,3 dalam skrip; titik-titik tersebut tidak otomatis dihapus. Rings berkisar1–29, rerata9,934.</a:t>
            </a:r>
          </a:p>
          <a:p>
            <a:r>
              <a:t>Batas skala: dokumentasi UCI menyebut mm/gram serta pembagian200 pada fitur kontinu. Tanpa log pemrosesan unggahan, jangan langsung menyebut efek pergram. CSV dipertahankan apa adanya. EDA seluruh data tidak dipakai untuk memilih ulang fitur/parameter prediktif. Umur bukan pengukuran biologis pasti. Sebagian ukuran bobot memerlukan tindakan destruktif.</a:t>
            </a:r>
          </a:p>
          <a:p>
            <a:endParaRPr/>
          </a:p>
          <a:p>
            <a:r>
              <a:t>SUMBER / CATATAN: Audit CSV dengan Python. UCI https://archive.ics.uci.edu/dataset/1/abalone. Peraturan Height dipertahankan dari skrip unggahan, bukan batas biologis terverifikasi.</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Anggota 1 • 90 detik. Model sederhana memberikan persamaan Rings prediksi6,4621+14,5357×Shell_weight. Perbedaan0,1 unit pada skala CSV berasosiasi dengan perbedaan rerata sekitar1,454 Rings. CI 95%HC3 kemiringan13,9158–15,1556. Ini asosiasi positif dalam model; bukan bukti bobot menyebabkan umur. R² 0,394 adalah kecocokan sampel, bukan persentase prediksi individu yang tepat.</a:t>
            </a:r>
          </a:p>
          <a:p>
            <a:r>
              <a:t>Model berganda memakai Sex dan tujuh ukuran/bobot; R² 0,538 lebih besar, tetapi VIF maksimum109,77 memperlihatkan kolinearitas. Height berubah10,762→23,481 pada sensitivitas. CI HC3 Height dalam model utama mencakup0; jangan pilih tanda/koefisien yang menarik saja. HC3 membantu inferensi terhadap ragam residual yang tidak konstan, bukan semua masalah desain/model.</a:t>
            </a:r>
          </a:p>
          <a:p>
            <a:r>
              <a:t>Serah-terima: Penjelasan asosiasi sudah kami peroleh. Anggota kedua menjelaskan pengujian kemampuan model pada observasi yang tidak dipakai melatih.</a:t>
            </a:r>
          </a:p>
          <a:p>
            <a:endParaRPr/>
          </a:p>
          <a:p>
            <a:r>
              <a:t>SUMBER / CATATAN: Hasil Python: inferensi_sederhana_HC3.csv, inferensi_berganda_HC3.csv, vif_kolom_desain.csv, ringkasan.json. statsmodels OLS/HC3. R belum dieksekusi. Tidak semua prediktor harus normal; residual dan asumsi rerata/independensi lebih relevan.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Anggota 2 • 80 detik. Pemisahan mengikuti skrip sumber: state 2026, skor=(48271×state)mod2147483647 lalu urutkan. Ambil3.341baris latih dan836 uji. Pada latih, fold 1–5 berulang dalam urutan tersebut; CV melatih empatfold dan memprediksi foldsisa. Seleksi menurutRMSE gabunganOOF, bukan skor uji. Model kemudian dilatih pada seluruh latih. Semua model pembanding dinilai sekali pada testtetap, tetapi keputusan seleksi tetap dariCV.</a:t>
            </a:r>
          </a:p>
          <a:p>
            <a:r>
              <a:t>Pembanding:mean,regresisederhana,berganda,pohon,RF. R: rpartcp.005,minbucket15,xval0; RF300 pohon,mtry3; seed2026+kdan3030. Tidak dilakukan tuning.</a:t>
            </a:r>
          </a:p>
          <a:p>
            <a:r>
              <a:t>Perbedaan mesin: Python memakai dua dummySexI/M dan sklearn; pohonleaf15tanpapemetaan cp,RFleaf1. R memakai faktorSex,rpart,randomForest. Seed sama tidak membuat algoritme/generator identik. MAE/RMSEsatuanRings. R²uji bukan prosentase individu yang benar.</a:t>
            </a:r>
          </a:p>
          <a:p>
            <a:endParaRPr/>
          </a:p>
          <a:p>
            <a:r>
              <a:t>SUMBER / CATATAN: Skrip asli bagian4–6. Dokumentasi lm, rpart.control dan randomForest. Manifest hasil_python/split_dan_fold.csv merekam pembagian/fold. Jangan mengganti split dengan train_test_split dan tetap menyebut hasil identik.</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Anggota 2 — 85 detik.</a:t>
            </a:r>
          </a:p>
          <a:p>
            <a:endParaRPr/>
          </a:p>
          <a:p>
            <a:r>
              <a:t>“Tabel ini berlabel Python, bukan hasil eksekusi R. Pada CV, Random Forest memberi RMSE terendah, sekitar 2,141, sehingga menjadi pilihan CV. Akan tetapi pada data uji, regresi berganda mempunyai RMSE sedikit lebih rendah, 2,214, dibandingkan RF 2,243. Selisih RF dikurangi regresi sekitar 0,030 Rings. CI bootstrap berpasangan 95 persen berkisar minus 0,060 sampai 0,126, yang mencakup nol. Kami tidak menyimpulkan RF pasti lebih unggul. Ini menunjukkan pentingnya membedakan pemilihan berdasarkan CV dan evaluasi akhir.”</a:t>
            </a:r>
          </a:p>
          <a:p>
            <a:endParaRPr/>
          </a:p>
          <a:p>
            <a:r>
              <a:t>MAE RF sedikit lebih rendah (1,539 dibanding 1,549), sehingga peringkat juga dapat bergantung pada metrik. Jangan menyembunyikan perbedaan ini atau memilih ulang model berdasarkan data uji.</a:t>
            </a:r>
          </a:p>
          <a:p>
            <a:endParaRPr/>
          </a:p>
          <a:p>
            <a:r>
              <a:t>CI berasal dari 2.000 pengulangan baris uji yang sama untuk seluruh model, dengan model tetap. Ini ketidakpastian kondisional pada model yang telah dilatih, bukan variasi proses pelatihan dan bukan interval prediksi individu. R² baseline dapat negatif karena rerata latih tidak sama persis dengan rerata uji.</a:t>
            </a:r>
          </a:p>
          <a:p>
            <a:endParaRPr/>
          </a:p>
          <a:p>
            <a:r>
              <a:t>Untuk menyebut hasil R, jalankan paket R terlebih dahulu, lalu perbarui tabel, status mesin, peringkat, CI, dan kesimpulan. Seed yang bernilai sama tidak menjamin algoritme pohon lintas perangkat lunak menghasilkan prediksi identik.</a:t>
            </a:r>
          </a:p>
          <a:p>
            <a:endParaRPr/>
          </a:p>
          <a:p>
            <a:r>
              <a:t>SUMBER: hasil_python/perbandingan_model_PYTHON.csv; bootstrap_RMSE_kondisional.csv; ringkasan.json; versi_dan_status.json. Split LCG dan fold mengikuti skrip pengguna. Python 3.13.5, scikit-learn 1.8.0, statsmodels 0.14.6. Dokumentasi perbedaan implementasi di README dan CHANGELOG.</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Anggota 2 — 45 detik, lalu demo sekitar 3 menit.</a:t>
            </a:r>
          </a:p>
          <a:p>
            <a:endParaRPr/>
          </a:p>
          <a:p>
            <a:r>
              <a:t>“Produk kami berisi notebook, kode, laporan, dan dashboard tiga tab. Data dan EDA dapat dilihat tanpa membaca kode, diagnostik dapat diperiksa, dan satu skenario dapat dicoba. Inferensi membantu memahami asosiasi dan ketidakpastian; prediksi membantu menilai galat. Keduanya saling melengkapi. Keterbatasannya adalah data observasional, potensi pengaruh titik ekstrem, kolinearitas, dan belum adanya validasi eksternal. Hasil R masih perlu direproduksi melalui paket yang disertakan.”</a:t>
            </a:r>
          </a:p>
          <a:p>
            <a:endParaRPr/>
          </a:p>
          <a:p>
            <a:r>
              <a:t>DEMO 180 DETIK — sesudah slide 7:</a:t>
            </a:r>
          </a:p>
          <a:p>
            <a:r>
              <a:t>00:00–00:45, anggota 1: Tab 1. Tampilkan jumlah data; filter Sex=F (1.307 baris); kembalikan Semua; tunjukkan audit Height. Empat baris tidak otomatis dihapus.</a:t>
            </a:r>
          </a:p>
          <a:p>
            <a:r>
              <a:t>00:45–01:30, anggota 1: Tab 2. Tunjukkan CI HC3, VIF, residual, dan tabel benchmark. Bedakan asosiasi dari galat prediksi.</a:t>
            </a:r>
          </a:p>
          <a:p>
            <a:r>
              <a:t>01:30–02:30, anggota 2: Tab 3. Pakai contoh data latih; ubah Shell_weight sedikit; klik Hitung prediksi; bandingkan lima model. Model dan skor benchmark tidak dilatih ulang. Perubahan input bukan efek kausal.</a:t>
            </a:r>
          </a:p>
          <a:p>
            <a:r>
              <a:t>02:30–03:00, anggota 2: Kembalikan contoh. Tunjukkan label mesin dan batas prediksi titik. Dashboard offline menggunakan Python/JavaScript; Shiny memakai R setelah berhasil dijalankan. Umur adalah pendekatan, bukan kepastian biologis.</a:t>
            </a:r>
          </a:p>
          <a:p>
            <a:endParaRPr/>
          </a:p>
          <a:p>
            <a:r>
              <a:t>Paparan sekitar 8 menit, ditambah demo 3 menit dan tanya jawab. Kedua anggota harus memahami inferensi, split/CV, benchmark, asumsi, dan batas klaim; pembagian peran bukan alasan mengabaikan bagian lain.</a:t>
            </a:r>
          </a:p>
          <a:p>
            <a:endParaRPr/>
          </a:p>
          <a:p>
            <a:r>
              <a:t>SUMBER: tangkapan layar dashboard offline yang benar-benar dibuat dan diuji, bukan mockup. app.R serta 02_Notebook_Abalone.Rmd disertakan tetapi belum dieksekusi di lingkungan penyusun. Rujukan lengkap terdapat pada proposal, README, dan notebook: UCI Abalone; Shmueli (2010); Breiman (2001); dokumentasi resmi R, Posit, scikit-learn, dan statsmodels.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Box 3"/>
          <p:cNvSpPr txBox="1"/>
          <p:nvPr/>
        </p:nvSpPr>
        <p:spPr>
          <a:xfrm>
            <a:off x="10945368" y="164592"/>
            <a:ext cx="685800" cy="411480"/>
          </a:xfrm>
          <a:prstGeom prst="rect">
            <a:avLst/>
          </a:prstGeom>
          <a:noFill/>
        </p:spPr>
        <p:txBody>
          <a:bodyPr wrap="square" lIns="18288" tIns="0" rIns="18288" bIns="0">
            <a:spAutoFit/>
          </a:bodyPr>
          <a:lstStyle/>
          <a:p>
            <a:pPr algn="r">
              <a:spcAft>
                <a:spcPts val="600"/>
              </a:spcAft>
              <a:defRPr sz="2200" b="1">
                <a:solidFill>
                  <a:srgbClr val="174C3F"/>
                </a:solidFill>
                <a:latin typeface="Calibri"/>
              </a:defRPr>
            </a:pPr>
            <a:r>
              <a:t>01</a:t>
            </a:r>
          </a:p>
        </p:txBody>
      </p:sp>
      <p:sp>
        <p:nvSpPr>
          <p:cNvPr id="5" name="TextBox 4"/>
          <p:cNvSpPr txBox="1"/>
          <p:nvPr/>
        </p:nvSpPr>
        <p:spPr>
          <a:xfrm>
            <a:off x="355485" y="782472"/>
            <a:ext cx="11109960" cy="492443"/>
          </a:xfrm>
          <a:prstGeom prst="rect">
            <a:avLst/>
          </a:prstGeom>
          <a:noFill/>
        </p:spPr>
        <p:txBody>
          <a:bodyPr wrap="square" lIns="18288" tIns="0" rIns="18288" bIns="0">
            <a:spAutoFit/>
          </a:bodyPr>
          <a:lstStyle/>
          <a:p>
            <a:pPr algn="l">
              <a:spcAft>
                <a:spcPts val="600"/>
              </a:spcAft>
              <a:defRPr sz="3200" b="1">
                <a:solidFill>
                  <a:srgbClr val="174C3F"/>
                </a:solidFill>
                <a:latin typeface="Calibri"/>
              </a:defRPr>
            </a:pPr>
            <a:r>
              <a:t>Perbandingan Statistika Inferensial vs Prediktif</a:t>
            </a:r>
          </a:p>
        </p:txBody>
      </p:sp>
      <p:sp>
        <p:nvSpPr>
          <p:cNvPr id="6" name="Rectangle 5"/>
          <p:cNvSpPr/>
          <p:nvPr/>
        </p:nvSpPr>
        <p:spPr>
          <a:xfrm>
            <a:off x="502920" y="6428232"/>
            <a:ext cx="11155680" cy="13716"/>
          </a:xfrm>
          <a:prstGeom prst="rect">
            <a:avLst/>
          </a:prstGeom>
          <a:solidFill>
            <a:srgbClr val="D5E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045952" y="6492240"/>
            <a:ext cx="594360" cy="228600"/>
          </a:xfrm>
          <a:prstGeom prst="rect">
            <a:avLst/>
          </a:prstGeom>
          <a:noFill/>
        </p:spPr>
        <p:txBody>
          <a:bodyPr wrap="square" lIns="18288" tIns="0" rIns="18288" bIns="0">
            <a:spAutoFit/>
          </a:bodyPr>
          <a:lstStyle/>
          <a:p>
            <a:pPr algn="r">
              <a:spcAft>
                <a:spcPts val="600"/>
              </a:spcAft>
              <a:defRPr sz="1000" b="0">
                <a:solidFill>
                  <a:srgbClr val="586B62"/>
                </a:solidFill>
                <a:latin typeface="Calibri"/>
              </a:defRPr>
            </a:pPr>
            <a:r>
              <a:t>1 / 7</a:t>
            </a:r>
          </a:p>
        </p:txBody>
      </p:sp>
      <p:sp>
        <p:nvSpPr>
          <p:cNvPr id="9" name="TextBox 8"/>
          <p:cNvSpPr txBox="1"/>
          <p:nvPr/>
        </p:nvSpPr>
        <p:spPr>
          <a:xfrm>
            <a:off x="393192" y="402776"/>
            <a:ext cx="8229600" cy="307777"/>
          </a:xfrm>
          <a:prstGeom prst="rect">
            <a:avLst/>
          </a:prstGeom>
          <a:noFill/>
        </p:spPr>
        <p:txBody>
          <a:bodyPr wrap="square" lIns="18288" tIns="0" rIns="18288" bIns="0">
            <a:spAutoFit/>
          </a:bodyPr>
          <a:lstStyle/>
          <a:p>
            <a:pPr algn="l">
              <a:spcAft>
                <a:spcPts val="600"/>
              </a:spcAft>
              <a:defRPr sz="2000" b="1">
                <a:solidFill>
                  <a:srgbClr val="174C3F"/>
                </a:solidFill>
                <a:latin typeface="Calibri"/>
              </a:defRPr>
            </a:pPr>
            <a:r>
              <a:t>Project Kelompok 10</a:t>
            </a:r>
          </a:p>
        </p:txBody>
      </p:sp>
      <p:sp>
        <p:nvSpPr>
          <p:cNvPr id="10" name="Rounded Rectangle 9"/>
          <p:cNvSpPr/>
          <p:nvPr/>
        </p:nvSpPr>
        <p:spPr>
          <a:xfrm>
            <a:off x="502920" y="1759106"/>
            <a:ext cx="9668602" cy="2530089"/>
          </a:xfrm>
          <a:prstGeom prst="roundRect">
            <a:avLst>
              <a:gd name="adj" fmla="val 10000"/>
            </a:avLst>
          </a:prstGeom>
          <a:solidFill>
            <a:srgbClr val="EC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5838" y="2051078"/>
            <a:ext cx="8809820" cy="1538883"/>
          </a:xfrm>
          <a:prstGeom prst="rect">
            <a:avLst/>
          </a:prstGeom>
          <a:noFill/>
        </p:spPr>
        <p:txBody>
          <a:bodyPr wrap="square" lIns="18288" tIns="0" rIns="18288" bIns="0">
            <a:spAutoFit/>
          </a:bodyPr>
          <a:lstStyle/>
          <a:p>
            <a:pPr algn="just">
              <a:spcAft>
                <a:spcPts val="600"/>
              </a:spcAft>
              <a:defRPr sz="2700" b="1">
                <a:solidFill>
                  <a:srgbClr val="174C3F"/>
                </a:solidFill>
                <a:latin typeface="Calibri"/>
              </a:defRPr>
            </a:pPr>
            <a:r>
              <a:rPr lang="en-ID" sz="2000"/>
              <a:t>Statistik inferensial dan statistik prediktif memiliki tujuan yang berbeda dalam analisis data. Statistik inferensial berfokus pada penjelasan hubungan dan pengaruh variabel dalam populasi berdasarkan sampel, sedangkan pendekatan prediktif menekankan kemampuan model dalam memperkirakan nilai respons pada data baru</a:t>
            </a:r>
            <a:endParaRPr sz="2000"/>
          </a:p>
        </p:txBody>
      </p:sp>
      <p:sp>
        <p:nvSpPr>
          <p:cNvPr id="14" name="TextBox 13"/>
          <p:cNvSpPr txBox="1"/>
          <p:nvPr/>
        </p:nvSpPr>
        <p:spPr>
          <a:xfrm>
            <a:off x="8458200" y="2578608"/>
            <a:ext cx="2880360" cy="594360"/>
          </a:xfrm>
          <a:prstGeom prst="rect">
            <a:avLst/>
          </a:prstGeom>
          <a:noFill/>
        </p:spPr>
        <p:txBody>
          <a:bodyPr wrap="square" lIns="18288" tIns="0" rIns="18288" bIns="0">
            <a:spAutoFit/>
          </a:bodyPr>
          <a:lstStyle/>
          <a:p>
            <a:pPr algn="l">
              <a:spcAft>
                <a:spcPts val="600"/>
              </a:spcAft>
              <a:defRPr sz="4200" b="1">
                <a:solidFill>
                  <a:srgbClr val="FFFFFF"/>
                </a:solidFill>
                <a:latin typeface="Calibri"/>
              </a:defRPr>
            </a:pPr>
            <a:r>
              <a:t>4.177</a:t>
            </a:r>
          </a:p>
        </p:txBody>
      </p:sp>
      <p:sp>
        <p:nvSpPr>
          <p:cNvPr id="15" name="TextBox 14"/>
          <p:cNvSpPr txBox="1"/>
          <p:nvPr/>
        </p:nvSpPr>
        <p:spPr>
          <a:xfrm>
            <a:off x="8458200" y="3310128"/>
            <a:ext cx="2880360" cy="1024128"/>
          </a:xfrm>
          <a:prstGeom prst="rect">
            <a:avLst/>
          </a:prstGeom>
          <a:noFill/>
        </p:spPr>
        <p:txBody>
          <a:bodyPr wrap="square" lIns="18288" tIns="0" rIns="18288" bIns="0">
            <a:spAutoFit/>
          </a:bodyPr>
          <a:lstStyle/>
          <a:p>
            <a:pPr algn="l">
              <a:spcAft>
                <a:spcPts val="600"/>
              </a:spcAft>
              <a:defRPr sz="1700" b="0">
                <a:solidFill>
                  <a:srgbClr val="FFFFFF"/>
                </a:solidFill>
                <a:latin typeface="Calibri"/>
              </a:defRPr>
            </a:pPr>
            <a:r>
              <a:t>observasi • 8 prediktor</a:t>
            </a:r>
          </a:p>
          <a:p>
            <a:pPr algn="l">
              <a:spcAft>
                <a:spcPts val="600"/>
              </a:spcAft>
              <a:defRPr sz="1700" b="0">
                <a:solidFill>
                  <a:srgbClr val="FFFFFF"/>
                </a:solidFill>
                <a:latin typeface="Calibri"/>
              </a:defRPr>
            </a:pPr>
            <a:r>
              <a:t>Target: Rings</a:t>
            </a:r>
          </a:p>
          <a:p>
            <a:pPr algn="l">
              <a:spcAft>
                <a:spcPts val="600"/>
              </a:spcAft>
              <a:defRPr sz="1700" b="0">
                <a:solidFill>
                  <a:srgbClr val="FFFFFF"/>
                </a:solidFill>
                <a:latin typeface="Calibri"/>
              </a:defRPr>
            </a:pPr>
            <a:r>
              <a:t>Umur ≈ Rings + 1,5 tahun</a:t>
            </a:r>
          </a:p>
        </p:txBody>
      </p:sp>
      <p:sp>
        <p:nvSpPr>
          <p:cNvPr id="21" name="TextBox 20"/>
          <p:cNvSpPr txBox="1"/>
          <p:nvPr/>
        </p:nvSpPr>
        <p:spPr>
          <a:xfrm>
            <a:off x="530352" y="5989320"/>
            <a:ext cx="10972800" cy="215444"/>
          </a:xfrm>
          <a:prstGeom prst="rect">
            <a:avLst/>
          </a:prstGeom>
          <a:noFill/>
        </p:spPr>
        <p:txBody>
          <a:bodyPr wrap="square" lIns="18288" tIns="0" rIns="18288" bIns="0">
            <a:spAutoFit/>
          </a:bodyPr>
          <a:lstStyle/>
          <a:p>
            <a:pPr algn="l">
              <a:spcAft>
                <a:spcPts val="600"/>
              </a:spcAft>
              <a:defRPr sz="1400" b="0">
                <a:solidFill>
                  <a:srgbClr val="586B62"/>
                </a:solidFill>
                <a:latin typeface="Calibri"/>
              </a:defRPr>
            </a:pPr>
            <a:r>
              <a:t>[Dance Mote] dan [Tanus Elokpere]  |  [Analisis Regresi Tingkat Lanjut] </a:t>
            </a:r>
          </a:p>
        </p:txBody>
      </p:sp>
      <p:sp>
        <p:nvSpPr>
          <p:cNvPr id="2" name="TextBox 1">
            <a:extLst>
              <a:ext uri="{FF2B5EF4-FFF2-40B4-BE49-F238E27FC236}">
                <a16:creationId xmlns:a16="http://schemas.microsoft.com/office/drawing/2014/main" id="{B6858BD4-12EC-BB9D-AE8C-D554DB6E0392}"/>
              </a:ext>
            </a:extLst>
          </p:cNvPr>
          <p:cNvSpPr txBox="1"/>
          <p:nvPr/>
        </p:nvSpPr>
        <p:spPr>
          <a:xfrm>
            <a:off x="502920" y="1421273"/>
            <a:ext cx="8191893" cy="307777"/>
          </a:xfrm>
          <a:prstGeom prst="rect">
            <a:avLst/>
          </a:prstGeom>
          <a:noFill/>
        </p:spPr>
        <p:txBody>
          <a:bodyPr wrap="square" lIns="18288" tIns="0" rIns="18288" bIns="0">
            <a:spAutoFit/>
          </a:bodyPr>
          <a:lstStyle/>
          <a:p>
            <a:pPr algn="l">
              <a:spcAft>
                <a:spcPts val="600"/>
              </a:spcAft>
              <a:defRPr sz="2000" b="1">
                <a:solidFill>
                  <a:srgbClr val="174C3F"/>
                </a:solidFill>
                <a:latin typeface="Calibri"/>
              </a:defRPr>
            </a:pPr>
            <a:r>
              <a:t>Latar Belakang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05FF8A1-9DBE-06BC-490E-E0FA280B069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573B54F-FF60-2787-79C2-C2F3DC10032F}"/>
              </a:ext>
            </a:extLst>
          </p:cNvPr>
          <p:cNvSpPr txBox="1"/>
          <p:nvPr/>
        </p:nvSpPr>
        <p:spPr>
          <a:xfrm>
            <a:off x="10945368" y="164592"/>
            <a:ext cx="685800" cy="411480"/>
          </a:xfrm>
          <a:prstGeom prst="rect">
            <a:avLst/>
          </a:prstGeom>
          <a:noFill/>
        </p:spPr>
        <p:txBody>
          <a:bodyPr wrap="square" lIns="18288" tIns="0" rIns="18288" bIns="0">
            <a:spAutoFit/>
          </a:bodyPr>
          <a:lstStyle/>
          <a:p>
            <a:pPr algn="r">
              <a:spcAft>
                <a:spcPts val="600"/>
              </a:spcAft>
              <a:defRPr sz="2200" b="1">
                <a:solidFill>
                  <a:srgbClr val="174C3F"/>
                </a:solidFill>
                <a:latin typeface="Calibri"/>
              </a:defRPr>
            </a:pPr>
            <a:r>
              <a:t>01</a:t>
            </a:r>
          </a:p>
        </p:txBody>
      </p:sp>
      <p:sp>
        <p:nvSpPr>
          <p:cNvPr id="5" name="TextBox 4">
            <a:extLst>
              <a:ext uri="{FF2B5EF4-FFF2-40B4-BE49-F238E27FC236}">
                <a16:creationId xmlns:a16="http://schemas.microsoft.com/office/drawing/2014/main" id="{EEE2621D-E565-8AEE-1248-056C605E897D}"/>
              </a:ext>
            </a:extLst>
          </p:cNvPr>
          <p:cNvSpPr txBox="1"/>
          <p:nvPr/>
        </p:nvSpPr>
        <p:spPr>
          <a:xfrm>
            <a:off x="502920" y="713232"/>
            <a:ext cx="11109960" cy="886968"/>
          </a:xfrm>
          <a:prstGeom prst="rect">
            <a:avLst/>
          </a:prstGeom>
          <a:noFill/>
        </p:spPr>
        <p:txBody>
          <a:bodyPr wrap="square" lIns="18288" tIns="0" rIns="18288" bIns="0">
            <a:spAutoFit/>
          </a:bodyPr>
          <a:lstStyle/>
          <a:p>
            <a:pPr algn="l">
              <a:spcAft>
                <a:spcPts val="600"/>
              </a:spcAft>
              <a:defRPr sz="3200" b="1">
                <a:solidFill>
                  <a:srgbClr val="174C3F"/>
                </a:solidFill>
                <a:latin typeface="Calibri"/>
              </a:defRPr>
            </a:pPr>
            <a:r>
              <a:t>Perbandingan Statistika</a:t>
            </a:r>
          </a:p>
          <a:p>
            <a:pPr algn="l">
              <a:spcAft>
                <a:spcPts val="600"/>
              </a:spcAft>
              <a:defRPr sz="3200" b="1">
                <a:solidFill>
                  <a:srgbClr val="174C3F"/>
                </a:solidFill>
                <a:latin typeface="Calibri"/>
              </a:defRPr>
            </a:pPr>
            <a:r>
              <a:t>Inferensial vs Prediktif</a:t>
            </a:r>
          </a:p>
        </p:txBody>
      </p:sp>
      <p:sp>
        <p:nvSpPr>
          <p:cNvPr id="6" name="Rectangle 5">
            <a:extLst>
              <a:ext uri="{FF2B5EF4-FFF2-40B4-BE49-F238E27FC236}">
                <a16:creationId xmlns:a16="http://schemas.microsoft.com/office/drawing/2014/main" id="{3F1E1C58-4415-A3E8-3315-B019492A9B00}"/>
              </a:ext>
            </a:extLst>
          </p:cNvPr>
          <p:cNvSpPr/>
          <p:nvPr/>
        </p:nvSpPr>
        <p:spPr>
          <a:xfrm>
            <a:off x="502920" y="6428232"/>
            <a:ext cx="11155680" cy="13716"/>
          </a:xfrm>
          <a:prstGeom prst="rect">
            <a:avLst/>
          </a:prstGeom>
          <a:solidFill>
            <a:srgbClr val="D5E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E01CFE76-9968-760C-B8B6-822AA66529A4}"/>
              </a:ext>
            </a:extLst>
          </p:cNvPr>
          <p:cNvSpPr txBox="1"/>
          <p:nvPr/>
        </p:nvSpPr>
        <p:spPr>
          <a:xfrm>
            <a:off x="11045952" y="6492240"/>
            <a:ext cx="594360" cy="228600"/>
          </a:xfrm>
          <a:prstGeom prst="rect">
            <a:avLst/>
          </a:prstGeom>
          <a:noFill/>
        </p:spPr>
        <p:txBody>
          <a:bodyPr wrap="square" lIns="18288" tIns="0" rIns="18288" bIns="0">
            <a:spAutoFit/>
          </a:bodyPr>
          <a:lstStyle/>
          <a:p>
            <a:pPr algn="r">
              <a:spcAft>
                <a:spcPts val="600"/>
              </a:spcAft>
              <a:defRPr sz="1000" b="0">
                <a:solidFill>
                  <a:srgbClr val="586B62"/>
                </a:solidFill>
                <a:latin typeface="Calibri"/>
              </a:defRPr>
            </a:pPr>
            <a:r>
              <a:t>1 / 7</a:t>
            </a:r>
          </a:p>
        </p:txBody>
      </p:sp>
      <p:sp>
        <p:nvSpPr>
          <p:cNvPr id="9" name="TextBox 8">
            <a:extLst>
              <a:ext uri="{FF2B5EF4-FFF2-40B4-BE49-F238E27FC236}">
                <a16:creationId xmlns:a16="http://schemas.microsoft.com/office/drawing/2014/main" id="{D0D18337-46CA-A872-9A02-03A98E8B63C3}"/>
              </a:ext>
            </a:extLst>
          </p:cNvPr>
          <p:cNvSpPr txBox="1"/>
          <p:nvPr/>
        </p:nvSpPr>
        <p:spPr>
          <a:xfrm>
            <a:off x="530352" y="1764792"/>
            <a:ext cx="8229600" cy="393192"/>
          </a:xfrm>
          <a:prstGeom prst="rect">
            <a:avLst/>
          </a:prstGeom>
          <a:noFill/>
        </p:spPr>
        <p:txBody>
          <a:bodyPr wrap="square" lIns="18288" tIns="0" rIns="18288" bIns="0">
            <a:spAutoFit/>
          </a:bodyPr>
          <a:lstStyle/>
          <a:p>
            <a:pPr algn="l">
              <a:spcAft>
                <a:spcPts val="600"/>
              </a:spcAft>
              <a:defRPr sz="2000" b="1">
                <a:solidFill>
                  <a:srgbClr val="174C3F"/>
                </a:solidFill>
                <a:latin typeface="Calibri"/>
              </a:defRPr>
            </a:pPr>
            <a:r>
              <a:t>PADA DATA ABALONE</a:t>
            </a:r>
          </a:p>
        </p:txBody>
      </p:sp>
      <p:sp>
        <p:nvSpPr>
          <p:cNvPr id="10" name="Rounded Rectangle 9">
            <a:extLst>
              <a:ext uri="{FF2B5EF4-FFF2-40B4-BE49-F238E27FC236}">
                <a16:creationId xmlns:a16="http://schemas.microsoft.com/office/drawing/2014/main" id="{927BE5D4-F34F-1CFD-B21D-05367E3E3AF8}"/>
              </a:ext>
            </a:extLst>
          </p:cNvPr>
          <p:cNvSpPr/>
          <p:nvPr/>
        </p:nvSpPr>
        <p:spPr>
          <a:xfrm>
            <a:off x="521207" y="2331720"/>
            <a:ext cx="7406640" cy="2286000"/>
          </a:xfrm>
          <a:prstGeom prst="roundRect">
            <a:avLst>
              <a:gd name="adj" fmla="val 10000"/>
            </a:avLst>
          </a:prstGeom>
          <a:solidFill>
            <a:srgbClr val="EC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78445317-E915-DF3E-4FDA-2B423F222BB1}"/>
              </a:ext>
            </a:extLst>
          </p:cNvPr>
          <p:cNvSpPr txBox="1"/>
          <p:nvPr/>
        </p:nvSpPr>
        <p:spPr>
          <a:xfrm>
            <a:off x="777240" y="2560320"/>
            <a:ext cx="6858000" cy="320040"/>
          </a:xfrm>
          <a:prstGeom prst="rect">
            <a:avLst/>
          </a:prstGeom>
          <a:noFill/>
        </p:spPr>
        <p:txBody>
          <a:bodyPr wrap="square" lIns="18288" tIns="0" rIns="18288" bIns="0">
            <a:spAutoFit/>
          </a:bodyPr>
          <a:lstStyle/>
          <a:p>
            <a:pPr algn="l">
              <a:spcAft>
                <a:spcPts val="600"/>
              </a:spcAft>
              <a:defRPr sz="1300" b="1">
                <a:solidFill>
                  <a:srgbClr val="586B62"/>
                </a:solidFill>
                <a:latin typeface="Calibri"/>
              </a:defRPr>
            </a:pPr>
            <a:r>
              <a:t>SATU PERTANYAAN UTAMA</a:t>
            </a:r>
          </a:p>
        </p:txBody>
      </p:sp>
      <p:sp>
        <p:nvSpPr>
          <p:cNvPr id="12" name="TextBox 11">
            <a:extLst>
              <a:ext uri="{FF2B5EF4-FFF2-40B4-BE49-F238E27FC236}">
                <a16:creationId xmlns:a16="http://schemas.microsoft.com/office/drawing/2014/main" id="{F783B9C4-E734-F6FF-85A4-DF04C909A8DA}"/>
              </a:ext>
            </a:extLst>
          </p:cNvPr>
          <p:cNvSpPr txBox="1"/>
          <p:nvPr/>
        </p:nvSpPr>
        <p:spPr>
          <a:xfrm>
            <a:off x="777240" y="2999232"/>
            <a:ext cx="6858000" cy="1280160"/>
          </a:xfrm>
          <a:prstGeom prst="rect">
            <a:avLst/>
          </a:prstGeom>
          <a:noFill/>
        </p:spPr>
        <p:txBody>
          <a:bodyPr wrap="square" lIns="18288" tIns="0" rIns="18288" bIns="0">
            <a:spAutoFit/>
          </a:bodyPr>
          <a:lstStyle/>
          <a:p>
            <a:pPr algn="l">
              <a:spcAft>
                <a:spcPts val="600"/>
              </a:spcAft>
              <a:defRPr sz="2700" b="1">
                <a:solidFill>
                  <a:srgbClr val="174C3F"/>
                </a:solidFill>
                <a:latin typeface="Calibri"/>
              </a:defRPr>
            </a:pPr>
            <a:r>
              <a:t>Bagaimana memahami asosiasi morfologi</a:t>
            </a:r>
          </a:p>
          <a:p>
            <a:pPr algn="l">
              <a:spcAft>
                <a:spcPts val="600"/>
              </a:spcAft>
              <a:defRPr sz="2700" b="1">
                <a:solidFill>
                  <a:srgbClr val="174C3F"/>
                </a:solidFill>
                <a:latin typeface="Calibri"/>
              </a:defRPr>
            </a:pPr>
            <a:r>
              <a:t>dengan Rings sekaligus memprediksi</a:t>
            </a:r>
          </a:p>
          <a:p>
            <a:pPr algn="l">
              <a:spcAft>
                <a:spcPts val="600"/>
              </a:spcAft>
              <a:defRPr sz="2700" b="1">
                <a:solidFill>
                  <a:srgbClr val="174C3F"/>
                </a:solidFill>
                <a:latin typeface="Calibri"/>
              </a:defRPr>
            </a:pPr>
            <a:r>
              <a:t>Rings pada abalone baru?</a:t>
            </a:r>
          </a:p>
        </p:txBody>
      </p:sp>
      <p:sp>
        <p:nvSpPr>
          <p:cNvPr id="13" name="Rounded Rectangle 12">
            <a:extLst>
              <a:ext uri="{FF2B5EF4-FFF2-40B4-BE49-F238E27FC236}">
                <a16:creationId xmlns:a16="http://schemas.microsoft.com/office/drawing/2014/main" id="{070503ED-83E2-1863-1A42-8661D9185699}"/>
              </a:ext>
            </a:extLst>
          </p:cNvPr>
          <p:cNvSpPr/>
          <p:nvPr/>
        </p:nvSpPr>
        <p:spPr>
          <a:xfrm>
            <a:off x="8193024" y="2331720"/>
            <a:ext cx="3447288" cy="2286000"/>
          </a:xfrm>
          <a:prstGeom prst="roundRect">
            <a:avLst>
              <a:gd name="adj" fmla="val 10000"/>
            </a:avLst>
          </a:prstGeom>
          <a:solidFill>
            <a:srgbClr val="174C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6B645C67-2ADF-6B3F-81CD-DF4739BDAA02}"/>
              </a:ext>
            </a:extLst>
          </p:cNvPr>
          <p:cNvSpPr txBox="1"/>
          <p:nvPr/>
        </p:nvSpPr>
        <p:spPr>
          <a:xfrm>
            <a:off x="8458200" y="2578608"/>
            <a:ext cx="2880360" cy="594360"/>
          </a:xfrm>
          <a:prstGeom prst="rect">
            <a:avLst/>
          </a:prstGeom>
          <a:noFill/>
        </p:spPr>
        <p:txBody>
          <a:bodyPr wrap="square" lIns="18288" tIns="0" rIns="18288" bIns="0">
            <a:spAutoFit/>
          </a:bodyPr>
          <a:lstStyle/>
          <a:p>
            <a:pPr algn="l">
              <a:spcAft>
                <a:spcPts val="600"/>
              </a:spcAft>
              <a:defRPr sz="4200" b="1">
                <a:solidFill>
                  <a:srgbClr val="FFFFFF"/>
                </a:solidFill>
                <a:latin typeface="Calibri"/>
              </a:defRPr>
            </a:pPr>
            <a:r>
              <a:t>4.177</a:t>
            </a:r>
          </a:p>
        </p:txBody>
      </p:sp>
      <p:sp>
        <p:nvSpPr>
          <p:cNvPr id="15" name="TextBox 14">
            <a:extLst>
              <a:ext uri="{FF2B5EF4-FFF2-40B4-BE49-F238E27FC236}">
                <a16:creationId xmlns:a16="http://schemas.microsoft.com/office/drawing/2014/main" id="{9E47FD1B-959F-59FE-E0AF-158E93FF5870}"/>
              </a:ext>
            </a:extLst>
          </p:cNvPr>
          <p:cNvSpPr txBox="1"/>
          <p:nvPr/>
        </p:nvSpPr>
        <p:spPr>
          <a:xfrm>
            <a:off x="8458200" y="3310128"/>
            <a:ext cx="2880360" cy="1024128"/>
          </a:xfrm>
          <a:prstGeom prst="rect">
            <a:avLst/>
          </a:prstGeom>
          <a:noFill/>
        </p:spPr>
        <p:txBody>
          <a:bodyPr wrap="square" lIns="18288" tIns="0" rIns="18288" bIns="0">
            <a:spAutoFit/>
          </a:bodyPr>
          <a:lstStyle/>
          <a:p>
            <a:pPr algn="l">
              <a:spcAft>
                <a:spcPts val="600"/>
              </a:spcAft>
              <a:defRPr sz="1700" b="0">
                <a:solidFill>
                  <a:srgbClr val="FFFFFF"/>
                </a:solidFill>
                <a:latin typeface="Calibri"/>
              </a:defRPr>
            </a:pPr>
            <a:r>
              <a:t>observasi • 8 prediktor</a:t>
            </a:r>
          </a:p>
          <a:p>
            <a:pPr algn="l">
              <a:spcAft>
                <a:spcPts val="600"/>
              </a:spcAft>
              <a:defRPr sz="1700" b="0">
                <a:solidFill>
                  <a:srgbClr val="FFFFFF"/>
                </a:solidFill>
                <a:latin typeface="Calibri"/>
              </a:defRPr>
            </a:pPr>
            <a:r>
              <a:t>Target: Rings</a:t>
            </a:r>
          </a:p>
          <a:p>
            <a:pPr algn="l">
              <a:spcAft>
                <a:spcPts val="600"/>
              </a:spcAft>
              <a:defRPr sz="1700" b="0">
                <a:solidFill>
                  <a:srgbClr val="FFFFFF"/>
                </a:solidFill>
                <a:latin typeface="Calibri"/>
              </a:defRPr>
            </a:pPr>
            <a:r>
              <a:t>Umur ≈ Rings + 1,5 tahun</a:t>
            </a:r>
          </a:p>
        </p:txBody>
      </p:sp>
      <p:sp>
        <p:nvSpPr>
          <p:cNvPr id="21" name="TextBox 20">
            <a:extLst>
              <a:ext uri="{FF2B5EF4-FFF2-40B4-BE49-F238E27FC236}">
                <a16:creationId xmlns:a16="http://schemas.microsoft.com/office/drawing/2014/main" id="{5145264B-4B8B-2907-C211-59FFDF7A07A2}"/>
              </a:ext>
            </a:extLst>
          </p:cNvPr>
          <p:cNvSpPr txBox="1"/>
          <p:nvPr/>
        </p:nvSpPr>
        <p:spPr>
          <a:xfrm>
            <a:off x="530352" y="5989320"/>
            <a:ext cx="10972800" cy="215444"/>
          </a:xfrm>
          <a:prstGeom prst="rect">
            <a:avLst/>
          </a:prstGeom>
          <a:noFill/>
        </p:spPr>
        <p:txBody>
          <a:bodyPr wrap="square" lIns="18288" tIns="0" rIns="18288" bIns="0">
            <a:spAutoFit/>
          </a:bodyPr>
          <a:lstStyle/>
          <a:p>
            <a:pPr algn="l">
              <a:spcAft>
                <a:spcPts val="600"/>
              </a:spcAft>
              <a:defRPr sz="1400" b="0">
                <a:solidFill>
                  <a:srgbClr val="586B62"/>
                </a:solidFill>
                <a:latin typeface="Calibri"/>
              </a:defRPr>
            </a:pPr>
            <a:r>
              <a:t>[Dance Mote] dan [Tanus Elokpere]  |  [Analisis Regresi Tingkat Lanjut] </a:t>
            </a:r>
          </a:p>
        </p:txBody>
      </p:sp>
    </p:spTree>
    <p:extLst>
      <p:ext uri="{BB962C8B-B14F-4D97-AF65-F5344CB8AC3E}">
        <p14:creationId xmlns:p14="http://schemas.microsoft.com/office/powerpoint/2010/main" val="1345094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292608"/>
            <a:ext cx="502920" cy="41148"/>
          </a:xfrm>
          <a:prstGeom prst="rect">
            <a:avLst/>
          </a:prstGeom>
          <a:solidFill>
            <a:srgbClr val="C39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15568" y="201168"/>
            <a:ext cx="9144000" cy="256032"/>
          </a:xfrm>
          <a:prstGeom prst="rect">
            <a:avLst/>
          </a:prstGeom>
          <a:noFill/>
        </p:spPr>
        <p:txBody>
          <a:bodyPr wrap="square" lIns="18288" tIns="0" rIns="18288" bIns="0">
            <a:spAutoFit/>
          </a:bodyPr>
          <a:lstStyle/>
          <a:p>
            <a:pPr algn="l">
              <a:spcAft>
                <a:spcPts val="600"/>
              </a:spcAft>
              <a:defRPr sz="1100" b="1">
                <a:solidFill>
                  <a:srgbClr val="586B62"/>
                </a:solidFill>
                <a:latin typeface="Calibri"/>
              </a:defRPr>
            </a:pPr>
            <a:r>
              <a:t>MATERI INTI</a:t>
            </a:r>
          </a:p>
        </p:txBody>
      </p:sp>
      <p:sp>
        <p:nvSpPr>
          <p:cNvPr id="4" name="TextBox 3"/>
          <p:cNvSpPr txBox="1"/>
          <p:nvPr/>
        </p:nvSpPr>
        <p:spPr>
          <a:xfrm>
            <a:off x="10945368" y="164592"/>
            <a:ext cx="685800" cy="411480"/>
          </a:xfrm>
          <a:prstGeom prst="rect">
            <a:avLst/>
          </a:prstGeom>
          <a:noFill/>
        </p:spPr>
        <p:txBody>
          <a:bodyPr wrap="square" lIns="18288" tIns="0" rIns="18288" bIns="0">
            <a:spAutoFit/>
          </a:bodyPr>
          <a:lstStyle/>
          <a:p>
            <a:pPr algn="r">
              <a:spcAft>
                <a:spcPts val="600"/>
              </a:spcAft>
              <a:defRPr sz="2200" b="1">
                <a:solidFill>
                  <a:srgbClr val="174C3F"/>
                </a:solidFill>
                <a:latin typeface="Calibri"/>
              </a:defRPr>
            </a:pPr>
            <a:r>
              <a:t>02</a:t>
            </a:r>
          </a:p>
        </p:txBody>
      </p:sp>
      <p:sp>
        <p:nvSpPr>
          <p:cNvPr id="6" name="TextBox 5"/>
          <p:cNvSpPr txBox="1"/>
          <p:nvPr/>
        </p:nvSpPr>
        <p:spPr>
          <a:xfrm>
            <a:off x="521207" y="1517904"/>
            <a:ext cx="11064240" cy="502920"/>
          </a:xfrm>
          <a:prstGeom prst="rect">
            <a:avLst/>
          </a:prstGeom>
          <a:noFill/>
        </p:spPr>
        <p:txBody>
          <a:bodyPr wrap="square" lIns="18288" tIns="0" rIns="18288" bIns="0">
            <a:spAutoFit/>
          </a:bodyPr>
          <a:lstStyle/>
          <a:p>
            <a:pPr algn="l">
              <a:spcAft>
                <a:spcPts val="600"/>
              </a:spcAft>
              <a:defRPr sz="1700" b="0">
                <a:solidFill>
                  <a:srgbClr val="586B62"/>
                </a:solidFill>
                <a:latin typeface="Calibri"/>
              </a:defRPr>
            </a:pPr>
            <a:r>
              <a:t>Regresi linear dapat dipakai untuk inferensi maupun prediksi.</a:t>
            </a:r>
          </a:p>
        </p:txBody>
      </p:sp>
      <p:sp>
        <p:nvSpPr>
          <p:cNvPr id="7" name="Rectangle 6"/>
          <p:cNvSpPr/>
          <p:nvPr/>
        </p:nvSpPr>
        <p:spPr>
          <a:xfrm>
            <a:off x="502920" y="6428232"/>
            <a:ext cx="11155680" cy="13716"/>
          </a:xfrm>
          <a:prstGeom prst="rect">
            <a:avLst/>
          </a:prstGeom>
          <a:solidFill>
            <a:srgbClr val="D5E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045952" y="6492240"/>
            <a:ext cx="594360" cy="228600"/>
          </a:xfrm>
          <a:prstGeom prst="rect">
            <a:avLst/>
          </a:prstGeom>
          <a:noFill/>
        </p:spPr>
        <p:txBody>
          <a:bodyPr wrap="square" lIns="18288" tIns="0" rIns="18288" bIns="0">
            <a:spAutoFit/>
          </a:bodyPr>
          <a:lstStyle/>
          <a:p>
            <a:pPr algn="r">
              <a:spcAft>
                <a:spcPts val="600"/>
              </a:spcAft>
              <a:defRPr sz="1000" b="0">
                <a:solidFill>
                  <a:srgbClr val="586B62"/>
                </a:solidFill>
                <a:latin typeface="Calibri"/>
              </a:defRPr>
            </a:pPr>
            <a:r>
              <a:t>2 / 7</a:t>
            </a:r>
          </a:p>
        </p:txBody>
      </p:sp>
      <p:sp>
        <p:nvSpPr>
          <p:cNvPr id="10" name="Rounded Rectangle 9"/>
          <p:cNvSpPr/>
          <p:nvPr/>
        </p:nvSpPr>
        <p:spPr>
          <a:xfrm>
            <a:off x="521207" y="2194560"/>
            <a:ext cx="5413248" cy="2962656"/>
          </a:xfrm>
          <a:prstGeom prst="roundRect">
            <a:avLst>
              <a:gd name="adj" fmla="val 10000"/>
            </a:avLst>
          </a:prstGeom>
          <a:solidFill>
            <a:srgbClr val="EC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58952" y="2404872"/>
            <a:ext cx="4937760" cy="329184"/>
          </a:xfrm>
          <a:prstGeom prst="rect">
            <a:avLst/>
          </a:prstGeom>
          <a:noFill/>
        </p:spPr>
        <p:txBody>
          <a:bodyPr wrap="square" lIns="18288" tIns="0" rIns="18288" bIns="0">
            <a:spAutoFit/>
          </a:bodyPr>
          <a:lstStyle/>
          <a:p>
            <a:pPr algn="l">
              <a:spcAft>
                <a:spcPts val="600"/>
              </a:spcAft>
              <a:defRPr sz="1600" b="1">
                <a:solidFill>
                  <a:srgbClr val="174C3F"/>
                </a:solidFill>
                <a:latin typeface="Calibri"/>
              </a:defRPr>
            </a:pPr>
            <a:r>
              <a:t>INFERENSIAL</a:t>
            </a:r>
          </a:p>
        </p:txBody>
      </p:sp>
      <p:sp>
        <p:nvSpPr>
          <p:cNvPr id="12" name="TextBox 11"/>
          <p:cNvSpPr txBox="1"/>
          <p:nvPr/>
        </p:nvSpPr>
        <p:spPr>
          <a:xfrm>
            <a:off x="758952" y="2898648"/>
            <a:ext cx="4937760" cy="484632"/>
          </a:xfrm>
          <a:prstGeom prst="rect">
            <a:avLst/>
          </a:prstGeom>
          <a:noFill/>
        </p:spPr>
        <p:txBody>
          <a:bodyPr wrap="square" lIns="18288" tIns="0" rIns="18288" bIns="0">
            <a:spAutoFit/>
          </a:bodyPr>
          <a:lstStyle/>
          <a:p>
            <a:pPr algn="l">
              <a:spcAft>
                <a:spcPts val="600"/>
              </a:spcAft>
              <a:defRPr sz="2700" b="1">
                <a:solidFill>
                  <a:srgbClr val="174C3F"/>
                </a:solidFill>
                <a:latin typeface="Calibri"/>
              </a:defRPr>
            </a:pPr>
            <a:r>
              <a:t>Apa yang berasosiasi?</a:t>
            </a:r>
          </a:p>
        </p:txBody>
      </p:sp>
      <p:sp>
        <p:nvSpPr>
          <p:cNvPr id="13" name="TextBox 12"/>
          <p:cNvSpPr txBox="1"/>
          <p:nvPr/>
        </p:nvSpPr>
        <p:spPr>
          <a:xfrm>
            <a:off x="758952" y="3639312"/>
            <a:ext cx="4937760" cy="1280160"/>
          </a:xfrm>
          <a:prstGeom prst="rect">
            <a:avLst/>
          </a:prstGeom>
          <a:noFill/>
        </p:spPr>
        <p:txBody>
          <a:bodyPr wrap="square" lIns="18288" tIns="0" rIns="18288" bIns="0">
            <a:spAutoFit/>
          </a:bodyPr>
          <a:lstStyle/>
          <a:p>
            <a:pPr algn="l">
              <a:spcAft>
                <a:spcPts val="600"/>
              </a:spcAft>
              <a:defRPr sz="2300" b="0">
                <a:solidFill>
                  <a:srgbClr val="20332C"/>
                </a:solidFill>
                <a:latin typeface="Calibri"/>
              </a:defRPr>
            </a:pPr>
            <a:r>
              <a:t>Arah dan besar koefisien</a:t>
            </a:r>
          </a:p>
          <a:p>
            <a:pPr algn="l">
              <a:spcAft>
                <a:spcPts val="600"/>
              </a:spcAft>
              <a:defRPr sz="2300" b="0">
                <a:solidFill>
                  <a:srgbClr val="20332C"/>
                </a:solidFill>
                <a:latin typeface="Calibri"/>
              </a:defRPr>
            </a:pPr>
            <a:r>
              <a:t>CI 95%, nilai p, dan asumsi</a:t>
            </a:r>
          </a:p>
          <a:p>
            <a:pPr algn="l">
              <a:spcAft>
                <a:spcPts val="600"/>
              </a:spcAft>
              <a:defRPr sz="2300" b="0">
                <a:solidFill>
                  <a:srgbClr val="20332C"/>
                </a:solidFill>
                <a:latin typeface="Calibri"/>
              </a:defRPr>
            </a:pPr>
            <a:r>
              <a:t>Diagnostik serta sensitivitas</a:t>
            </a:r>
          </a:p>
        </p:txBody>
      </p:sp>
      <p:sp>
        <p:nvSpPr>
          <p:cNvPr id="14" name="Rounded Rectangle 13"/>
          <p:cNvSpPr/>
          <p:nvPr/>
        </p:nvSpPr>
        <p:spPr>
          <a:xfrm>
            <a:off x="6236208" y="2194560"/>
            <a:ext cx="5413248" cy="2962656"/>
          </a:xfrm>
          <a:prstGeom prst="roundRect">
            <a:avLst>
              <a:gd name="adj" fmla="val 10000"/>
            </a:avLst>
          </a:prstGeom>
          <a:solidFill>
            <a:srgbClr val="EC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73952" y="2404872"/>
            <a:ext cx="4937760" cy="329184"/>
          </a:xfrm>
          <a:prstGeom prst="rect">
            <a:avLst/>
          </a:prstGeom>
          <a:noFill/>
        </p:spPr>
        <p:txBody>
          <a:bodyPr wrap="square" lIns="18288" tIns="0" rIns="18288" bIns="0">
            <a:spAutoFit/>
          </a:bodyPr>
          <a:lstStyle/>
          <a:p>
            <a:pPr algn="l">
              <a:spcAft>
                <a:spcPts val="600"/>
              </a:spcAft>
              <a:defRPr sz="1600" b="1">
                <a:solidFill>
                  <a:srgbClr val="174C3F"/>
                </a:solidFill>
                <a:latin typeface="Calibri"/>
              </a:defRPr>
            </a:pPr>
            <a:r>
              <a:t>PREDIKTIF</a:t>
            </a:r>
          </a:p>
        </p:txBody>
      </p:sp>
      <p:sp>
        <p:nvSpPr>
          <p:cNvPr id="16" name="TextBox 15"/>
          <p:cNvSpPr txBox="1"/>
          <p:nvPr/>
        </p:nvSpPr>
        <p:spPr>
          <a:xfrm>
            <a:off x="6473952" y="2898648"/>
            <a:ext cx="4937760" cy="484632"/>
          </a:xfrm>
          <a:prstGeom prst="rect">
            <a:avLst/>
          </a:prstGeom>
          <a:noFill/>
        </p:spPr>
        <p:txBody>
          <a:bodyPr wrap="square" lIns="18288" tIns="0" rIns="18288" bIns="0">
            <a:spAutoFit/>
          </a:bodyPr>
          <a:lstStyle/>
          <a:p>
            <a:pPr algn="l">
              <a:spcAft>
                <a:spcPts val="600"/>
              </a:spcAft>
              <a:defRPr sz="2700" b="1">
                <a:solidFill>
                  <a:srgbClr val="174C3F"/>
                </a:solidFill>
                <a:latin typeface="Calibri"/>
              </a:defRPr>
            </a:pPr>
            <a:r>
              <a:t>Seberapa dekat prediksi?</a:t>
            </a:r>
          </a:p>
        </p:txBody>
      </p:sp>
      <p:sp>
        <p:nvSpPr>
          <p:cNvPr id="17" name="TextBox 16"/>
          <p:cNvSpPr txBox="1"/>
          <p:nvPr/>
        </p:nvSpPr>
        <p:spPr>
          <a:xfrm>
            <a:off x="6473952" y="3639312"/>
            <a:ext cx="4937760" cy="1280160"/>
          </a:xfrm>
          <a:prstGeom prst="rect">
            <a:avLst/>
          </a:prstGeom>
          <a:noFill/>
        </p:spPr>
        <p:txBody>
          <a:bodyPr wrap="square" lIns="18288" tIns="0" rIns="18288" bIns="0">
            <a:spAutoFit/>
          </a:bodyPr>
          <a:lstStyle/>
          <a:p>
            <a:pPr algn="l">
              <a:spcAft>
                <a:spcPts val="600"/>
              </a:spcAft>
              <a:defRPr sz="2300" b="0">
                <a:solidFill>
                  <a:srgbClr val="20332C"/>
                </a:solidFill>
                <a:latin typeface="Calibri"/>
              </a:defRPr>
            </a:pPr>
            <a:r>
              <a:t>Galat pada observasi baru</a:t>
            </a:r>
          </a:p>
          <a:p>
            <a:pPr algn="l">
              <a:spcAft>
                <a:spcPts val="600"/>
              </a:spcAft>
              <a:defRPr sz="2300" b="0">
                <a:solidFill>
                  <a:srgbClr val="20332C"/>
                </a:solidFill>
                <a:latin typeface="Calibri"/>
              </a:defRPr>
            </a:pPr>
            <a:r>
              <a:t>MAE, RMSE, dan R² uji</a:t>
            </a:r>
          </a:p>
          <a:p>
            <a:pPr algn="l">
              <a:spcAft>
                <a:spcPts val="600"/>
              </a:spcAft>
              <a:defRPr sz="2300" b="0">
                <a:solidFill>
                  <a:srgbClr val="20332C"/>
                </a:solidFill>
                <a:latin typeface="Calibri"/>
              </a:defRPr>
            </a:pPr>
            <a:r>
              <a:t>Validasi silang serta benchmark</a:t>
            </a:r>
          </a:p>
        </p:txBody>
      </p:sp>
      <p:sp>
        <p:nvSpPr>
          <p:cNvPr id="18" name="Rounded Rectangle 17"/>
          <p:cNvSpPr/>
          <p:nvPr/>
        </p:nvSpPr>
        <p:spPr>
          <a:xfrm>
            <a:off x="521207" y="5422392"/>
            <a:ext cx="11128248" cy="649224"/>
          </a:xfrm>
          <a:prstGeom prst="roundRect">
            <a:avLst>
              <a:gd name="adj" fmla="val 10000"/>
            </a:avLst>
          </a:prstGeom>
          <a:solidFill>
            <a:srgbClr val="FFF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9808" y="5586984"/>
            <a:ext cx="10652760" cy="347472"/>
          </a:xfrm>
          <a:prstGeom prst="rect">
            <a:avLst/>
          </a:prstGeom>
          <a:noFill/>
        </p:spPr>
        <p:txBody>
          <a:bodyPr wrap="square" lIns="18288" tIns="0" rIns="18288" bIns="0">
            <a:spAutoFit/>
          </a:bodyPr>
          <a:lstStyle/>
          <a:p>
            <a:pPr algn="l">
              <a:spcAft>
                <a:spcPts val="600"/>
              </a:spcAft>
              <a:defRPr sz="2300" b="1">
                <a:solidFill>
                  <a:srgbClr val="174C3F"/>
                </a:solidFill>
                <a:latin typeface="Calibri"/>
              </a:defRPr>
            </a:pPr>
            <a:r>
              <a:t>Nilai p kecil ≠ prediksi akurat.  Akurasi tinggi ≠ bukti sebab-akibat.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292608"/>
            <a:ext cx="502920" cy="41148"/>
          </a:xfrm>
          <a:prstGeom prst="rect">
            <a:avLst/>
          </a:prstGeom>
          <a:solidFill>
            <a:srgbClr val="C39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15568" y="201168"/>
            <a:ext cx="9144000" cy="256032"/>
          </a:xfrm>
          <a:prstGeom prst="rect">
            <a:avLst/>
          </a:prstGeom>
          <a:noFill/>
        </p:spPr>
        <p:txBody>
          <a:bodyPr wrap="square" lIns="18288" tIns="0" rIns="18288" bIns="0">
            <a:spAutoFit/>
          </a:bodyPr>
          <a:lstStyle/>
          <a:p>
            <a:pPr algn="l">
              <a:spcAft>
                <a:spcPts val="600"/>
              </a:spcAft>
              <a:defRPr sz="1100" b="1">
                <a:solidFill>
                  <a:srgbClr val="586B62"/>
                </a:solidFill>
                <a:latin typeface="Calibri"/>
              </a:defRPr>
            </a:pPr>
            <a:r>
              <a:t>DATA &amp; EDA</a:t>
            </a:r>
          </a:p>
        </p:txBody>
      </p:sp>
      <p:sp>
        <p:nvSpPr>
          <p:cNvPr id="4" name="TextBox 3"/>
          <p:cNvSpPr txBox="1"/>
          <p:nvPr/>
        </p:nvSpPr>
        <p:spPr>
          <a:xfrm>
            <a:off x="10945368" y="164592"/>
            <a:ext cx="685800" cy="411480"/>
          </a:xfrm>
          <a:prstGeom prst="rect">
            <a:avLst/>
          </a:prstGeom>
          <a:noFill/>
        </p:spPr>
        <p:txBody>
          <a:bodyPr wrap="square" lIns="18288" tIns="0" rIns="18288" bIns="0">
            <a:spAutoFit/>
          </a:bodyPr>
          <a:lstStyle/>
          <a:p>
            <a:pPr algn="r">
              <a:spcAft>
                <a:spcPts val="600"/>
              </a:spcAft>
              <a:defRPr sz="2200" b="1">
                <a:solidFill>
                  <a:srgbClr val="174C3F"/>
                </a:solidFill>
                <a:latin typeface="Calibri"/>
              </a:defRPr>
            </a:pPr>
            <a:r>
              <a:t>03</a:t>
            </a:r>
          </a:p>
        </p:txBody>
      </p:sp>
      <p:sp>
        <p:nvSpPr>
          <p:cNvPr id="5" name="TextBox 4"/>
          <p:cNvSpPr txBox="1"/>
          <p:nvPr/>
        </p:nvSpPr>
        <p:spPr>
          <a:xfrm>
            <a:off x="502920" y="713232"/>
            <a:ext cx="11109960" cy="886968"/>
          </a:xfrm>
          <a:prstGeom prst="rect">
            <a:avLst/>
          </a:prstGeom>
          <a:noFill/>
        </p:spPr>
        <p:txBody>
          <a:bodyPr wrap="square" lIns="18288" tIns="0" rIns="18288" bIns="0">
            <a:spAutoFit/>
          </a:bodyPr>
          <a:lstStyle/>
          <a:p>
            <a:pPr algn="l">
              <a:spcAft>
                <a:spcPts val="600"/>
              </a:spcAft>
              <a:defRPr sz="3200" b="1">
                <a:solidFill>
                  <a:srgbClr val="174C3F"/>
                </a:solidFill>
                <a:latin typeface="Calibri"/>
              </a:defRPr>
            </a:pPr>
            <a:r>
              <a:t>Kenali target dan kualitas data</a:t>
            </a:r>
          </a:p>
        </p:txBody>
      </p:sp>
      <p:sp>
        <p:nvSpPr>
          <p:cNvPr id="6" name="TextBox 5"/>
          <p:cNvSpPr txBox="1"/>
          <p:nvPr/>
        </p:nvSpPr>
        <p:spPr>
          <a:xfrm>
            <a:off x="521207" y="1517904"/>
            <a:ext cx="11064240" cy="502920"/>
          </a:xfrm>
          <a:prstGeom prst="rect">
            <a:avLst/>
          </a:prstGeom>
          <a:noFill/>
        </p:spPr>
        <p:txBody>
          <a:bodyPr wrap="square" lIns="18288" tIns="0" rIns="18288" bIns="0">
            <a:spAutoFit/>
          </a:bodyPr>
          <a:lstStyle/>
          <a:p>
            <a:pPr algn="l">
              <a:spcAft>
                <a:spcPts val="600"/>
              </a:spcAft>
              <a:defRPr sz="1700" b="0">
                <a:solidFill>
                  <a:srgbClr val="586B62"/>
                </a:solidFill>
                <a:latin typeface="Calibri"/>
              </a:defRPr>
            </a:pPr>
            <a:r>
              <a:t>Satu baris = satu abalone. Semua baris dipertahankan pada analisis utama.</a:t>
            </a:r>
          </a:p>
        </p:txBody>
      </p:sp>
      <p:sp>
        <p:nvSpPr>
          <p:cNvPr id="7" name="Rectangle 6"/>
          <p:cNvSpPr/>
          <p:nvPr/>
        </p:nvSpPr>
        <p:spPr>
          <a:xfrm>
            <a:off x="502920" y="6428232"/>
            <a:ext cx="11155680" cy="13716"/>
          </a:xfrm>
          <a:prstGeom prst="rect">
            <a:avLst/>
          </a:prstGeom>
          <a:solidFill>
            <a:srgbClr val="D5E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19672"/>
            <a:ext cx="10469880" cy="192024"/>
          </a:xfrm>
          <a:prstGeom prst="rect">
            <a:avLst/>
          </a:prstGeom>
          <a:noFill/>
        </p:spPr>
        <p:txBody>
          <a:bodyPr wrap="square" lIns="18288" tIns="0" rIns="18288" bIns="0">
            <a:spAutoFit/>
          </a:bodyPr>
          <a:lstStyle/>
          <a:p>
            <a:pPr algn="l">
              <a:spcAft>
                <a:spcPts val="600"/>
              </a:spcAft>
              <a:defRPr sz="900" b="0">
                <a:solidFill>
                  <a:srgbClr val="586B62"/>
                </a:solidFill>
                <a:latin typeface="Calibri"/>
              </a:defRPr>
            </a:pPr>
            <a:r>
              <a:t>Data: CSV unggahan; perhitungan dan grafik pendamping Python. Definisi variabel: UCI Abalone (1994).</a:t>
            </a:r>
          </a:p>
        </p:txBody>
      </p:sp>
      <p:sp>
        <p:nvSpPr>
          <p:cNvPr id="9" name="TextBox 8"/>
          <p:cNvSpPr txBox="1"/>
          <p:nvPr/>
        </p:nvSpPr>
        <p:spPr>
          <a:xfrm>
            <a:off x="11045952" y="6492240"/>
            <a:ext cx="594360" cy="228600"/>
          </a:xfrm>
          <a:prstGeom prst="rect">
            <a:avLst/>
          </a:prstGeom>
          <a:noFill/>
        </p:spPr>
        <p:txBody>
          <a:bodyPr wrap="square" lIns="18288" tIns="0" rIns="18288" bIns="0">
            <a:spAutoFit/>
          </a:bodyPr>
          <a:lstStyle/>
          <a:p>
            <a:pPr algn="r">
              <a:spcAft>
                <a:spcPts val="600"/>
              </a:spcAft>
              <a:defRPr sz="1000" b="0">
                <a:solidFill>
                  <a:srgbClr val="586B62"/>
                </a:solidFill>
                <a:latin typeface="Calibri"/>
              </a:defRPr>
            </a:pPr>
            <a:r>
              <a:t>3 / 7</a:t>
            </a:r>
          </a:p>
        </p:txBody>
      </p:sp>
      <p:sp>
        <p:nvSpPr>
          <p:cNvPr id="10" name="Rounded Rectangle 9"/>
          <p:cNvSpPr/>
          <p:nvPr/>
        </p:nvSpPr>
        <p:spPr>
          <a:xfrm>
            <a:off x="521207" y="2148840"/>
            <a:ext cx="2478024" cy="950976"/>
          </a:xfrm>
          <a:prstGeom prst="roundRect">
            <a:avLst>
              <a:gd name="adj" fmla="val 10000"/>
            </a:avLst>
          </a:prstGeom>
          <a:solidFill>
            <a:srgbClr val="EC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258568"/>
            <a:ext cx="2157984" cy="365760"/>
          </a:xfrm>
          <a:prstGeom prst="rect">
            <a:avLst/>
          </a:prstGeom>
          <a:noFill/>
        </p:spPr>
        <p:txBody>
          <a:bodyPr wrap="square" lIns="18288" tIns="0" rIns="18288" bIns="0">
            <a:spAutoFit/>
          </a:bodyPr>
          <a:lstStyle/>
          <a:p>
            <a:pPr algn="l">
              <a:spcAft>
                <a:spcPts val="600"/>
              </a:spcAft>
              <a:defRPr sz="2600" b="1">
                <a:solidFill>
                  <a:srgbClr val="174C3F"/>
                </a:solidFill>
                <a:latin typeface="Calibri"/>
              </a:defRPr>
            </a:pPr>
            <a:r>
              <a:t>9 kolom</a:t>
            </a:r>
          </a:p>
        </p:txBody>
      </p:sp>
      <p:sp>
        <p:nvSpPr>
          <p:cNvPr id="12" name="TextBox 11"/>
          <p:cNvSpPr txBox="1"/>
          <p:nvPr/>
        </p:nvSpPr>
        <p:spPr>
          <a:xfrm>
            <a:off x="685800" y="2724912"/>
            <a:ext cx="2157984" cy="237744"/>
          </a:xfrm>
          <a:prstGeom prst="rect">
            <a:avLst/>
          </a:prstGeom>
          <a:noFill/>
        </p:spPr>
        <p:txBody>
          <a:bodyPr wrap="square" lIns="18288" tIns="0" rIns="18288" bIns="0">
            <a:spAutoFit/>
          </a:bodyPr>
          <a:lstStyle/>
          <a:p>
            <a:pPr algn="l">
              <a:spcAft>
                <a:spcPts val="600"/>
              </a:spcAft>
              <a:defRPr sz="1300" b="0">
                <a:solidFill>
                  <a:srgbClr val="586B62"/>
                </a:solidFill>
                <a:latin typeface="Calibri"/>
              </a:defRPr>
            </a:pPr>
            <a:r>
              <a:t>8 prediktor + Rings</a:t>
            </a:r>
          </a:p>
        </p:txBody>
      </p:sp>
      <p:sp>
        <p:nvSpPr>
          <p:cNvPr id="13" name="Rounded Rectangle 12"/>
          <p:cNvSpPr/>
          <p:nvPr/>
        </p:nvSpPr>
        <p:spPr>
          <a:xfrm>
            <a:off x="3154680" y="2148840"/>
            <a:ext cx="2478024" cy="950976"/>
          </a:xfrm>
          <a:prstGeom prst="roundRect">
            <a:avLst>
              <a:gd name="adj" fmla="val 10000"/>
            </a:avLst>
          </a:prstGeom>
          <a:solidFill>
            <a:srgbClr val="EC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319272" y="2258568"/>
            <a:ext cx="2157984" cy="365760"/>
          </a:xfrm>
          <a:prstGeom prst="rect">
            <a:avLst/>
          </a:prstGeom>
          <a:noFill/>
        </p:spPr>
        <p:txBody>
          <a:bodyPr wrap="square" lIns="18288" tIns="0" rIns="18288" bIns="0">
            <a:spAutoFit/>
          </a:bodyPr>
          <a:lstStyle/>
          <a:p>
            <a:pPr algn="l">
              <a:spcAft>
                <a:spcPts val="600"/>
              </a:spcAft>
              <a:defRPr sz="2600" b="1">
                <a:solidFill>
                  <a:srgbClr val="174C3F"/>
                </a:solidFill>
                <a:latin typeface="Calibri"/>
              </a:defRPr>
            </a:pPr>
            <a:r>
              <a:t>0</a:t>
            </a:r>
          </a:p>
        </p:txBody>
      </p:sp>
      <p:sp>
        <p:nvSpPr>
          <p:cNvPr id="15" name="TextBox 14"/>
          <p:cNvSpPr txBox="1"/>
          <p:nvPr/>
        </p:nvSpPr>
        <p:spPr>
          <a:xfrm>
            <a:off x="3319272" y="2724912"/>
            <a:ext cx="2157984" cy="237744"/>
          </a:xfrm>
          <a:prstGeom prst="rect">
            <a:avLst/>
          </a:prstGeom>
          <a:noFill/>
        </p:spPr>
        <p:txBody>
          <a:bodyPr wrap="square" lIns="18288" tIns="0" rIns="18288" bIns="0">
            <a:spAutoFit/>
          </a:bodyPr>
          <a:lstStyle/>
          <a:p>
            <a:pPr algn="l">
              <a:spcAft>
                <a:spcPts val="600"/>
              </a:spcAft>
              <a:defRPr sz="1300" b="0">
                <a:solidFill>
                  <a:srgbClr val="586B62"/>
                </a:solidFill>
                <a:latin typeface="Calibri"/>
              </a:defRPr>
            </a:pPr>
            <a:r>
              <a:t>missing / duplikat persis</a:t>
            </a:r>
          </a:p>
        </p:txBody>
      </p:sp>
      <p:sp>
        <p:nvSpPr>
          <p:cNvPr id="16" name="Rounded Rectangle 15"/>
          <p:cNvSpPr/>
          <p:nvPr/>
        </p:nvSpPr>
        <p:spPr>
          <a:xfrm>
            <a:off x="5788152" y="2148840"/>
            <a:ext cx="2478024" cy="950976"/>
          </a:xfrm>
          <a:prstGeom prst="roundRect">
            <a:avLst>
              <a:gd name="adj" fmla="val 10000"/>
            </a:avLst>
          </a:prstGeom>
          <a:solidFill>
            <a:srgbClr val="EC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952744" y="2258568"/>
            <a:ext cx="2157984" cy="365760"/>
          </a:xfrm>
          <a:prstGeom prst="rect">
            <a:avLst/>
          </a:prstGeom>
          <a:noFill/>
        </p:spPr>
        <p:txBody>
          <a:bodyPr wrap="square" lIns="18288" tIns="0" rIns="18288" bIns="0">
            <a:spAutoFit/>
          </a:bodyPr>
          <a:lstStyle/>
          <a:p>
            <a:pPr algn="l">
              <a:spcAft>
                <a:spcPts val="600"/>
              </a:spcAft>
              <a:defRPr sz="2600" b="1">
                <a:solidFill>
                  <a:srgbClr val="174C3F"/>
                </a:solidFill>
                <a:latin typeface="Calibri"/>
              </a:defRPr>
            </a:pPr>
            <a:r>
              <a:t>4 baris</a:t>
            </a:r>
          </a:p>
        </p:txBody>
      </p:sp>
      <p:sp>
        <p:nvSpPr>
          <p:cNvPr id="18" name="TextBox 17"/>
          <p:cNvSpPr txBox="1"/>
          <p:nvPr/>
        </p:nvSpPr>
        <p:spPr>
          <a:xfrm>
            <a:off x="5952744" y="2724912"/>
            <a:ext cx="2157984" cy="237744"/>
          </a:xfrm>
          <a:prstGeom prst="rect">
            <a:avLst/>
          </a:prstGeom>
          <a:noFill/>
        </p:spPr>
        <p:txBody>
          <a:bodyPr wrap="square" lIns="18288" tIns="0" rIns="18288" bIns="0">
            <a:spAutoFit/>
          </a:bodyPr>
          <a:lstStyle/>
          <a:p>
            <a:pPr algn="l">
              <a:spcAft>
                <a:spcPts val="600"/>
              </a:spcAft>
              <a:defRPr sz="1300" b="0">
                <a:solidFill>
                  <a:srgbClr val="586B62"/>
                </a:solidFill>
                <a:latin typeface="Calibri"/>
              </a:defRPr>
            </a:pPr>
            <a:r>
              <a:t>perlu audit Height</a:t>
            </a:r>
          </a:p>
        </p:txBody>
      </p:sp>
      <p:sp>
        <p:nvSpPr>
          <p:cNvPr id="19" name="Rounded Rectangle 18"/>
          <p:cNvSpPr/>
          <p:nvPr/>
        </p:nvSpPr>
        <p:spPr>
          <a:xfrm>
            <a:off x="8421624" y="2148840"/>
            <a:ext cx="2478024" cy="950976"/>
          </a:xfrm>
          <a:prstGeom prst="roundRect">
            <a:avLst>
              <a:gd name="adj" fmla="val 10000"/>
            </a:avLst>
          </a:prstGeom>
          <a:solidFill>
            <a:srgbClr val="EC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586216" y="2258568"/>
            <a:ext cx="2157984" cy="365760"/>
          </a:xfrm>
          <a:prstGeom prst="rect">
            <a:avLst/>
          </a:prstGeom>
          <a:noFill/>
        </p:spPr>
        <p:txBody>
          <a:bodyPr wrap="square" lIns="18288" tIns="0" rIns="18288" bIns="0">
            <a:spAutoFit/>
          </a:bodyPr>
          <a:lstStyle/>
          <a:p>
            <a:pPr algn="l">
              <a:spcAft>
                <a:spcPts val="600"/>
              </a:spcAft>
              <a:defRPr sz="2600" b="1">
                <a:solidFill>
                  <a:srgbClr val="174C3F"/>
                </a:solidFill>
                <a:latin typeface="Calibri"/>
              </a:defRPr>
            </a:pPr>
            <a:r>
              <a:t>1–29</a:t>
            </a:r>
          </a:p>
        </p:txBody>
      </p:sp>
      <p:sp>
        <p:nvSpPr>
          <p:cNvPr id="21" name="TextBox 20"/>
          <p:cNvSpPr txBox="1"/>
          <p:nvPr/>
        </p:nvSpPr>
        <p:spPr>
          <a:xfrm>
            <a:off x="8586216" y="2724912"/>
            <a:ext cx="2157984" cy="237744"/>
          </a:xfrm>
          <a:prstGeom prst="rect">
            <a:avLst/>
          </a:prstGeom>
          <a:noFill/>
        </p:spPr>
        <p:txBody>
          <a:bodyPr wrap="square" lIns="18288" tIns="0" rIns="18288" bIns="0">
            <a:spAutoFit/>
          </a:bodyPr>
          <a:lstStyle/>
          <a:p>
            <a:pPr algn="l">
              <a:spcAft>
                <a:spcPts val="600"/>
              </a:spcAft>
              <a:defRPr sz="1300" b="0">
                <a:solidFill>
                  <a:srgbClr val="586B62"/>
                </a:solidFill>
                <a:latin typeface="Calibri"/>
              </a:defRPr>
            </a:pPr>
            <a:r>
              <a:t>rentang Rings</a:t>
            </a:r>
          </a:p>
        </p:txBody>
      </p:sp>
      <p:pic>
        <p:nvPicPr>
          <p:cNvPr id="22" name="Picture 21" descr="histogram.png"/>
          <p:cNvPicPr>
            <a:picLocks noChangeAspect="1"/>
          </p:cNvPicPr>
          <p:nvPr/>
        </p:nvPicPr>
        <p:blipFill>
          <a:blip r:embed="rId3"/>
          <a:stretch>
            <a:fillRect/>
          </a:stretch>
        </p:blipFill>
        <p:spPr>
          <a:xfrm>
            <a:off x="1386281" y="3291840"/>
            <a:ext cx="4826100" cy="2688336"/>
          </a:xfrm>
          <a:prstGeom prst="rect">
            <a:avLst/>
          </a:prstGeom>
        </p:spPr>
      </p:pic>
      <p:sp>
        <p:nvSpPr>
          <p:cNvPr id="23" name="TextBox 22"/>
          <p:cNvSpPr txBox="1"/>
          <p:nvPr/>
        </p:nvSpPr>
        <p:spPr>
          <a:xfrm>
            <a:off x="7360920" y="3346704"/>
            <a:ext cx="4023360" cy="274320"/>
          </a:xfrm>
          <a:prstGeom prst="rect">
            <a:avLst/>
          </a:prstGeom>
          <a:noFill/>
        </p:spPr>
        <p:txBody>
          <a:bodyPr wrap="square" lIns="18288" tIns="0" rIns="18288" bIns="0">
            <a:spAutoFit/>
          </a:bodyPr>
          <a:lstStyle/>
          <a:p>
            <a:pPr algn="l">
              <a:spcAft>
                <a:spcPts val="600"/>
              </a:spcAft>
              <a:defRPr sz="1400" b="1">
                <a:solidFill>
                  <a:srgbClr val="174C3F"/>
                </a:solidFill>
                <a:latin typeface="Calibri"/>
              </a:defRPr>
            </a:pPr>
            <a:r>
              <a:t>PREDIKTOR</a:t>
            </a:r>
          </a:p>
        </p:txBody>
      </p:sp>
      <p:sp>
        <p:nvSpPr>
          <p:cNvPr id="24" name="TextBox 23"/>
          <p:cNvSpPr txBox="1"/>
          <p:nvPr/>
        </p:nvSpPr>
        <p:spPr>
          <a:xfrm>
            <a:off x="7360920" y="3721608"/>
            <a:ext cx="4069080" cy="822960"/>
          </a:xfrm>
          <a:prstGeom prst="rect">
            <a:avLst/>
          </a:prstGeom>
          <a:noFill/>
        </p:spPr>
        <p:txBody>
          <a:bodyPr wrap="square" lIns="18288" tIns="0" rIns="18288" bIns="0">
            <a:spAutoFit/>
          </a:bodyPr>
          <a:lstStyle/>
          <a:p>
            <a:pPr algn="l">
              <a:spcAft>
                <a:spcPts val="600"/>
              </a:spcAft>
              <a:defRPr sz="2100" b="0">
                <a:solidFill>
                  <a:srgbClr val="20332C"/>
                </a:solidFill>
                <a:latin typeface="Calibri"/>
              </a:defRPr>
            </a:pPr>
            <a:r>
              <a:t>Sex + 7 dimensi/bobot</a:t>
            </a:r>
          </a:p>
          <a:p>
            <a:pPr algn="l">
              <a:spcAft>
                <a:spcPts val="600"/>
              </a:spcAft>
              <a:defRPr sz="2100" b="0">
                <a:solidFill>
                  <a:srgbClr val="20332C"/>
                </a:solidFill>
                <a:latin typeface="Calibri"/>
              </a:defRPr>
            </a:pPr>
            <a:r>
              <a:t>I = infant, bukan jenis kelamin ketiga.</a:t>
            </a:r>
          </a:p>
        </p:txBody>
      </p:sp>
      <p:sp>
        <p:nvSpPr>
          <p:cNvPr id="25" name="TextBox 24"/>
          <p:cNvSpPr txBox="1"/>
          <p:nvPr/>
        </p:nvSpPr>
        <p:spPr>
          <a:xfrm>
            <a:off x="7360920" y="4645152"/>
            <a:ext cx="4023360" cy="274320"/>
          </a:xfrm>
          <a:prstGeom prst="rect">
            <a:avLst/>
          </a:prstGeom>
          <a:noFill/>
        </p:spPr>
        <p:txBody>
          <a:bodyPr wrap="square" lIns="18288" tIns="0" rIns="18288" bIns="0">
            <a:spAutoFit/>
          </a:bodyPr>
          <a:lstStyle/>
          <a:p>
            <a:pPr algn="l">
              <a:spcAft>
                <a:spcPts val="600"/>
              </a:spcAft>
              <a:defRPr sz="1400" b="1">
                <a:solidFill>
                  <a:srgbClr val="174C3F"/>
                </a:solidFill>
                <a:latin typeface="Calibri"/>
              </a:defRPr>
            </a:pPr>
            <a:r>
              <a:t>JANGAN MASUKKAN AGE</a:t>
            </a:r>
          </a:p>
        </p:txBody>
      </p:sp>
      <p:sp>
        <p:nvSpPr>
          <p:cNvPr id="26" name="TextBox 25"/>
          <p:cNvSpPr txBox="1"/>
          <p:nvPr/>
        </p:nvSpPr>
        <p:spPr>
          <a:xfrm>
            <a:off x="7360920" y="5020056"/>
            <a:ext cx="4069080" cy="731520"/>
          </a:xfrm>
          <a:prstGeom prst="rect">
            <a:avLst/>
          </a:prstGeom>
          <a:noFill/>
        </p:spPr>
        <p:txBody>
          <a:bodyPr wrap="square" lIns="18288" tIns="0" rIns="18288" bIns="0">
            <a:spAutoFit/>
          </a:bodyPr>
          <a:lstStyle/>
          <a:p>
            <a:pPr algn="l">
              <a:spcAft>
                <a:spcPts val="600"/>
              </a:spcAft>
              <a:defRPr sz="2100" b="0">
                <a:solidFill>
                  <a:srgbClr val="20332C"/>
                </a:solidFill>
                <a:latin typeface="Calibri"/>
              </a:defRPr>
            </a:pPr>
            <a:r>
              <a:t>Age = Rings + 1,5 berasal dari target: kebocoran data.</a:t>
            </a:r>
          </a:p>
        </p:txBody>
      </p:sp>
      <p:sp>
        <p:nvSpPr>
          <p:cNvPr id="27" name="TextBox 26"/>
          <p:cNvSpPr txBox="1"/>
          <p:nvPr/>
        </p:nvSpPr>
        <p:spPr>
          <a:xfrm>
            <a:off x="621792" y="6035040"/>
            <a:ext cx="10972800" cy="246888"/>
          </a:xfrm>
          <a:prstGeom prst="rect">
            <a:avLst/>
          </a:prstGeom>
          <a:noFill/>
        </p:spPr>
        <p:txBody>
          <a:bodyPr wrap="square" lIns="18288" tIns="0" rIns="18288" bIns="0">
            <a:spAutoFit/>
          </a:bodyPr>
          <a:lstStyle/>
          <a:p>
            <a:pPr algn="l">
              <a:spcAft>
                <a:spcPts val="600"/>
              </a:spcAft>
              <a:defRPr sz="1400" b="0">
                <a:solidFill>
                  <a:srgbClr val="586B62"/>
                </a:solidFill>
                <a:latin typeface="Calibri"/>
              </a:defRPr>
            </a:pPr>
            <a:r>
              <a:t>Koefisien mengikuti skala numerik CSV; satuan fisik tidak dikonversi ulang.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292608"/>
            <a:ext cx="502920" cy="41148"/>
          </a:xfrm>
          <a:prstGeom prst="rect">
            <a:avLst/>
          </a:prstGeom>
          <a:solidFill>
            <a:srgbClr val="C39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15568" y="201168"/>
            <a:ext cx="9144000" cy="256032"/>
          </a:xfrm>
          <a:prstGeom prst="rect">
            <a:avLst/>
          </a:prstGeom>
          <a:noFill/>
        </p:spPr>
        <p:txBody>
          <a:bodyPr wrap="square" lIns="18288" tIns="0" rIns="18288" bIns="0">
            <a:spAutoFit/>
          </a:bodyPr>
          <a:lstStyle/>
          <a:p>
            <a:pPr algn="l">
              <a:spcAft>
                <a:spcPts val="600"/>
              </a:spcAft>
              <a:defRPr sz="1100" b="1">
                <a:solidFill>
                  <a:srgbClr val="586B62"/>
                </a:solidFill>
                <a:latin typeface="Calibri"/>
              </a:defRPr>
            </a:pPr>
            <a:r>
              <a:t>INFERENSI &amp; DIAGNOSTIK</a:t>
            </a:r>
          </a:p>
        </p:txBody>
      </p:sp>
      <p:sp>
        <p:nvSpPr>
          <p:cNvPr id="4" name="TextBox 3"/>
          <p:cNvSpPr txBox="1"/>
          <p:nvPr/>
        </p:nvSpPr>
        <p:spPr>
          <a:xfrm>
            <a:off x="10945368" y="164592"/>
            <a:ext cx="685800" cy="411480"/>
          </a:xfrm>
          <a:prstGeom prst="rect">
            <a:avLst/>
          </a:prstGeom>
          <a:noFill/>
        </p:spPr>
        <p:txBody>
          <a:bodyPr wrap="square" lIns="18288" tIns="0" rIns="18288" bIns="0">
            <a:spAutoFit/>
          </a:bodyPr>
          <a:lstStyle/>
          <a:p>
            <a:pPr algn="r">
              <a:spcAft>
                <a:spcPts val="600"/>
              </a:spcAft>
              <a:defRPr sz="2200" b="1">
                <a:solidFill>
                  <a:srgbClr val="174C3F"/>
                </a:solidFill>
                <a:latin typeface="Calibri"/>
              </a:defRPr>
            </a:pPr>
            <a:r>
              <a:t>04</a:t>
            </a:r>
          </a:p>
        </p:txBody>
      </p:sp>
      <p:sp>
        <p:nvSpPr>
          <p:cNvPr id="5" name="TextBox 4"/>
          <p:cNvSpPr txBox="1"/>
          <p:nvPr/>
        </p:nvSpPr>
        <p:spPr>
          <a:xfrm>
            <a:off x="502920" y="713232"/>
            <a:ext cx="11109960" cy="886968"/>
          </a:xfrm>
          <a:prstGeom prst="rect">
            <a:avLst/>
          </a:prstGeom>
          <a:noFill/>
        </p:spPr>
        <p:txBody>
          <a:bodyPr wrap="square" lIns="18288" tIns="0" rIns="18288" bIns="0">
            <a:spAutoFit/>
          </a:bodyPr>
          <a:lstStyle/>
          <a:p>
            <a:pPr algn="l">
              <a:spcAft>
                <a:spcPts val="600"/>
              </a:spcAft>
              <a:defRPr sz="3200" b="1">
                <a:solidFill>
                  <a:srgbClr val="174C3F"/>
                </a:solidFill>
                <a:latin typeface="Calibri"/>
              </a:defRPr>
            </a:pPr>
            <a:r>
              <a:t>Asosiasi jelas, tetapi diagnostik tetap penting</a:t>
            </a:r>
          </a:p>
        </p:txBody>
      </p:sp>
      <p:sp>
        <p:nvSpPr>
          <p:cNvPr id="6" name="TextBox 5"/>
          <p:cNvSpPr txBox="1"/>
          <p:nvPr/>
        </p:nvSpPr>
        <p:spPr>
          <a:xfrm>
            <a:off x="521207" y="1517904"/>
            <a:ext cx="11064240" cy="502920"/>
          </a:xfrm>
          <a:prstGeom prst="rect">
            <a:avLst/>
          </a:prstGeom>
          <a:noFill/>
        </p:spPr>
        <p:txBody>
          <a:bodyPr wrap="square" lIns="18288" tIns="0" rIns="18288" bIns="0">
            <a:spAutoFit/>
          </a:bodyPr>
          <a:lstStyle/>
          <a:p>
            <a:pPr algn="l">
              <a:spcAft>
                <a:spcPts val="600"/>
              </a:spcAft>
              <a:defRPr sz="1700" b="0">
                <a:solidFill>
                  <a:srgbClr val="586B62"/>
                </a:solidFill>
                <a:latin typeface="Calibri"/>
              </a:defRPr>
            </a:pPr>
            <a:r>
              <a:t>Hasil OLS dan HC3 pendamping Python pada seluruh 4.177 observasi.</a:t>
            </a:r>
          </a:p>
        </p:txBody>
      </p:sp>
      <p:sp>
        <p:nvSpPr>
          <p:cNvPr id="7" name="Rectangle 6"/>
          <p:cNvSpPr/>
          <p:nvPr/>
        </p:nvSpPr>
        <p:spPr>
          <a:xfrm>
            <a:off x="502920" y="6428232"/>
            <a:ext cx="11155680" cy="13716"/>
          </a:xfrm>
          <a:prstGeom prst="rect">
            <a:avLst/>
          </a:prstGeom>
          <a:solidFill>
            <a:srgbClr val="D5E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19672"/>
            <a:ext cx="10469880" cy="192024"/>
          </a:xfrm>
          <a:prstGeom prst="rect">
            <a:avLst/>
          </a:prstGeom>
          <a:noFill/>
        </p:spPr>
        <p:txBody>
          <a:bodyPr wrap="square" lIns="18288" tIns="0" rIns="18288" bIns="0">
            <a:spAutoFit/>
          </a:bodyPr>
          <a:lstStyle/>
          <a:p>
            <a:pPr algn="l">
              <a:spcAft>
                <a:spcPts val="600"/>
              </a:spcAft>
              <a:defRPr sz="900" b="0">
                <a:solidFill>
                  <a:srgbClr val="586B62"/>
                </a:solidFill>
                <a:latin typeface="Calibri"/>
              </a:defRPr>
            </a:pPr>
            <a:r>
              <a:t>Formula dan HC3 mengikuti skrip sumber; hitungan: hasil_python/. HC3 bukan perbaikan untuk perancu atau salah bentuk model.</a:t>
            </a:r>
          </a:p>
        </p:txBody>
      </p:sp>
      <p:sp>
        <p:nvSpPr>
          <p:cNvPr id="9" name="TextBox 8"/>
          <p:cNvSpPr txBox="1"/>
          <p:nvPr/>
        </p:nvSpPr>
        <p:spPr>
          <a:xfrm>
            <a:off x="11045952" y="6492240"/>
            <a:ext cx="594360" cy="228600"/>
          </a:xfrm>
          <a:prstGeom prst="rect">
            <a:avLst/>
          </a:prstGeom>
          <a:noFill/>
        </p:spPr>
        <p:txBody>
          <a:bodyPr wrap="square" lIns="18288" tIns="0" rIns="18288" bIns="0">
            <a:spAutoFit/>
          </a:bodyPr>
          <a:lstStyle/>
          <a:p>
            <a:pPr algn="r">
              <a:spcAft>
                <a:spcPts val="600"/>
              </a:spcAft>
              <a:defRPr sz="1000" b="0">
                <a:solidFill>
                  <a:srgbClr val="586B62"/>
                </a:solidFill>
                <a:latin typeface="Calibri"/>
              </a:defRPr>
            </a:pPr>
            <a:r>
              <a:t>4 / 7</a:t>
            </a:r>
          </a:p>
        </p:txBody>
      </p:sp>
      <p:sp>
        <p:nvSpPr>
          <p:cNvPr id="10" name="Rounded Rectangle 9"/>
          <p:cNvSpPr/>
          <p:nvPr/>
        </p:nvSpPr>
        <p:spPr>
          <a:xfrm>
            <a:off x="521207" y="2176272"/>
            <a:ext cx="11128248" cy="758952"/>
          </a:xfrm>
          <a:prstGeom prst="roundRect">
            <a:avLst>
              <a:gd name="adj" fmla="val 10000"/>
            </a:avLst>
          </a:prstGeom>
          <a:solidFill>
            <a:srgbClr val="174C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5528" y="2368296"/>
            <a:ext cx="10579608" cy="420624"/>
          </a:xfrm>
          <a:prstGeom prst="rect">
            <a:avLst/>
          </a:prstGeom>
          <a:noFill/>
        </p:spPr>
        <p:txBody>
          <a:bodyPr wrap="square" lIns="18288" tIns="0" rIns="18288" bIns="0">
            <a:spAutoFit/>
          </a:bodyPr>
          <a:lstStyle/>
          <a:p>
            <a:pPr algn="l">
              <a:spcAft>
                <a:spcPts val="600"/>
              </a:spcAft>
              <a:defRPr sz="2800" b="1">
                <a:solidFill>
                  <a:srgbClr val="FFFFFF"/>
                </a:solidFill>
                <a:latin typeface="Calibri"/>
              </a:defRPr>
            </a:pPr>
            <a:r>
              <a:t>Rings prediksi = 6,4621 + 14,5357 × Shell_weight</a:t>
            </a:r>
          </a:p>
        </p:txBody>
      </p:sp>
      <p:sp>
        <p:nvSpPr>
          <p:cNvPr id="12" name="Rounded Rectangle 11"/>
          <p:cNvSpPr/>
          <p:nvPr/>
        </p:nvSpPr>
        <p:spPr>
          <a:xfrm>
            <a:off x="521207" y="3154680"/>
            <a:ext cx="5394960" cy="2761488"/>
          </a:xfrm>
          <a:prstGeom prst="roundRect">
            <a:avLst>
              <a:gd name="adj" fmla="val 10000"/>
            </a:avLst>
          </a:prstGeom>
          <a:solidFill>
            <a:srgbClr val="EC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68096" y="3364992"/>
            <a:ext cx="4864608" cy="265176"/>
          </a:xfrm>
          <a:prstGeom prst="rect">
            <a:avLst/>
          </a:prstGeom>
          <a:noFill/>
        </p:spPr>
        <p:txBody>
          <a:bodyPr wrap="square" lIns="18288" tIns="0" rIns="18288" bIns="0">
            <a:spAutoFit/>
          </a:bodyPr>
          <a:lstStyle/>
          <a:p>
            <a:pPr algn="l">
              <a:spcAft>
                <a:spcPts val="600"/>
              </a:spcAft>
              <a:defRPr sz="1400" b="1">
                <a:solidFill>
                  <a:srgbClr val="174C3F"/>
                </a:solidFill>
                <a:latin typeface="Calibri"/>
              </a:defRPr>
            </a:pPr>
            <a:r>
              <a:t>ASOSIASI MODEL SEDERHANA</a:t>
            </a:r>
          </a:p>
        </p:txBody>
      </p:sp>
      <p:sp>
        <p:nvSpPr>
          <p:cNvPr id="14" name="TextBox 13"/>
          <p:cNvSpPr txBox="1"/>
          <p:nvPr/>
        </p:nvSpPr>
        <p:spPr>
          <a:xfrm>
            <a:off x="768096" y="3776472"/>
            <a:ext cx="4873752" cy="896112"/>
          </a:xfrm>
          <a:prstGeom prst="rect">
            <a:avLst/>
          </a:prstGeom>
          <a:noFill/>
        </p:spPr>
        <p:txBody>
          <a:bodyPr wrap="square" lIns="18288" tIns="0" rIns="18288" bIns="0">
            <a:spAutoFit/>
          </a:bodyPr>
          <a:lstStyle/>
          <a:p>
            <a:pPr algn="l">
              <a:spcAft>
                <a:spcPts val="600"/>
              </a:spcAft>
              <a:defRPr sz="2600" b="1">
                <a:solidFill>
                  <a:srgbClr val="174C3F"/>
                </a:solidFill>
                <a:latin typeface="Calibri"/>
              </a:defRPr>
            </a:pPr>
            <a:r>
              <a:t>+0,1 unit skala CSV</a:t>
            </a:r>
          </a:p>
          <a:p>
            <a:pPr algn="l">
              <a:spcAft>
                <a:spcPts val="600"/>
              </a:spcAft>
              <a:defRPr sz="2600" b="1">
                <a:solidFill>
                  <a:srgbClr val="174C3F"/>
                </a:solidFill>
                <a:latin typeface="Calibri"/>
              </a:defRPr>
            </a:pPr>
            <a:r>
              <a:t>↔ +1,454 Rings pada rerata</a:t>
            </a:r>
          </a:p>
        </p:txBody>
      </p:sp>
      <p:sp>
        <p:nvSpPr>
          <p:cNvPr id="15" name="TextBox 14"/>
          <p:cNvSpPr txBox="1"/>
          <p:nvPr/>
        </p:nvSpPr>
        <p:spPr>
          <a:xfrm>
            <a:off x="768096" y="4745736"/>
            <a:ext cx="4873752" cy="877824"/>
          </a:xfrm>
          <a:prstGeom prst="rect">
            <a:avLst/>
          </a:prstGeom>
          <a:noFill/>
        </p:spPr>
        <p:txBody>
          <a:bodyPr wrap="square" lIns="18288" tIns="0" rIns="18288" bIns="0">
            <a:spAutoFit/>
          </a:bodyPr>
          <a:lstStyle/>
          <a:p>
            <a:pPr algn="l">
              <a:spcAft>
                <a:spcPts val="600"/>
              </a:spcAft>
              <a:defRPr sz="2000" b="0">
                <a:solidFill>
                  <a:srgbClr val="20332C"/>
                </a:solidFill>
                <a:latin typeface="Calibri"/>
              </a:defRPr>
            </a:pPr>
            <a:r>
              <a:t>CI 95% HC3 kemiringan:</a:t>
            </a:r>
          </a:p>
          <a:p>
            <a:pPr algn="l">
              <a:spcAft>
                <a:spcPts val="600"/>
              </a:spcAft>
              <a:defRPr sz="2000" b="0">
                <a:solidFill>
                  <a:srgbClr val="20332C"/>
                </a:solidFill>
                <a:latin typeface="Calibri"/>
              </a:defRPr>
            </a:pPr>
            <a:r>
              <a:t>13,9158 hingga 15,1556</a:t>
            </a:r>
          </a:p>
          <a:p>
            <a:pPr algn="l">
              <a:spcAft>
                <a:spcPts val="600"/>
              </a:spcAft>
              <a:defRPr sz="2000" b="0">
                <a:solidFill>
                  <a:srgbClr val="20332C"/>
                </a:solidFill>
                <a:latin typeface="Calibri"/>
              </a:defRPr>
            </a:pPr>
            <a:r>
              <a:t>p &lt; 0,001; bukan efek kausal.</a:t>
            </a:r>
          </a:p>
        </p:txBody>
      </p:sp>
      <p:sp>
        <p:nvSpPr>
          <p:cNvPr id="16" name="TextBox 15"/>
          <p:cNvSpPr txBox="1"/>
          <p:nvPr/>
        </p:nvSpPr>
        <p:spPr>
          <a:xfrm>
            <a:off x="6355080" y="3364992"/>
            <a:ext cx="4937760" cy="274320"/>
          </a:xfrm>
          <a:prstGeom prst="rect">
            <a:avLst/>
          </a:prstGeom>
          <a:noFill/>
        </p:spPr>
        <p:txBody>
          <a:bodyPr wrap="square" lIns="18288" tIns="0" rIns="18288" bIns="0">
            <a:spAutoFit/>
          </a:bodyPr>
          <a:lstStyle/>
          <a:p>
            <a:pPr algn="l">
              <a:spcAft>
                <a:spcPts val="600"/>
              </a:spcAft>
              <a:defRPr sz="1400" b="1">
                <a:solidFill>
                  <a:srgbClr val="174C3F"/>
                </a:solidFill>
                <a:latin typeface="Calibri"/>
              </a:defRPr>
            </a:pPr>
            <a:r>
              <a:t>MODEL BERGANDA: EKSPLORATIF</a:t>
            </a:r>
          </a:p>
        </p:txBody>
      </p:sp>
      <p:sp>
        <p:nvSpPr>
          <p:cNvPr id="17" name="TextBox 16"/>
          <p:cNvSpPr txBox="1"/>
          <p:nvPr/>
        </p:nvSpPr>
        <p:spPr>
          <a:xfrm>
            <a:off x="6355080" y="3794760"/>
            <a:ext cx="4846320" cy="1307592"/>
          </a:xfrm>
          <a:prstGeom prst="rect">
            <a:avLst/>
          </a:prstGeom>
          <a:noFill/>
        </p:spPr>
        <p:txBody>
          <a:bodyPr wrap="square" lIns="18288" tIns="0" rIns="18288" bIns="0">
            <a:spAutoFit/>
          </a:bodyPr>
          <a:lstStyle/>
          <a:p>
            <a:pPr algn="l">
              <a:spcAft>
                <a:spcPts val="600"/>
              </a:spcAft>
              <a:defRPr sz="2300" b="0">
                <a:solidFill>
                  <a:srgbClr val="20332C"/>
                </a:solidFill>
                <a:latin typeface="Calibri"/>
              </a:defRPr>
            </a:pPr>
            <a:r>
              <a:t>R² sampel: 0,394 → 0,538</a:t>
            </a:r>
          </a:p>
          <a:p>
            <a:pPr algn="l">
              <a:spcAft>
                <a:spcPts val="600"/>
              </a:spcAft>
              <a:defRPr sz="2300" b="0">
                <a:solidFill>
                  <a:srgbClr val="20332C"/>
                </a:solidFill>
                <a:latin typeface="Calibri"/>
              </a:defRPr>
            </a:pPr>
            <a:r>
              <a:t>VIF maksimum: 109,77</a:t>
            </a:r>
          </a:p>
          <a:p>
            <a:pPr algn="l">
              <a:spcAft>
                <a:spcPts val="600"/>
              </a:spcAft>
              <a:defRPr sz="2300" b="0">
                <a:solidFill>
                  <a:srgbClr val="20332C"/>
                </a:solidFill>
                <a:latin typeface="Calibri"/>
              </a:defRPr>
            </a:pPr>
            <a:r>
              <a:t>Koefisien Height: 10,762 → 23,481</a:t>
            </a:r>
          </a:p>
        </p:txBody>
      </p:sp>
      <p:sp>
        <p:nvSpPr>
          <p:cNvPr id="18" name="TextBox 17"/>
          <p:cNvSpPr txBox="1"/>
          <p:nvPr/>
        </p:nvSpPr>
        <p:spPr>
          <a:xfrm>
            <a:off x="6355080" y="5257800"/>
            <a:ext cx="4846320" cy="539496"/>
          </a:xfrm>
          <a:prstGeom prst="rect">
            <a:avLst/>
          </a:prstGeom>
          <a:noFill/>
        </p:spPr>
        <p:txBody>
          <a:bodyPr wrap="square" lIns="18288" tIns="0" rIns="18288" bIns="0">
            <a:spAutoFit/>
          </a:bodyPr>
          <a:lstStyle/>
          <a:p>
            <a:pPr algn="l">
              <a:spcAft>
                <a:spcPts val="600"/>
              </a:spcAft>
              <a:defRPr sz="1600" b="0">
                <a:solidFill>
                  <a:srgbClr val="586B62"/>
                </a:solidFill>
                <a:latin typeface="Calibri"/>
              </a:defRPr>
            </a:pPr>
            <a:r>
              <a:t>Perubahan terakhir berasal dari sensitivitas</a:t>
            </a:r>
          </a:p>
          <a:p>
            <a:pPr algn="l">
              <a:spcAft>
                <a:spcPts val="600"/>
              </a:spcAft>
              <a:defRPr sz="1600" b="0">
                <a:solidFill>
                  <a:srgbClr val="586B62"/>
                </a:solidFill>
                <a:latin typeface="Calibri"/>
              </a:defRPr>
            </a:pPr>
            <a:r>
              <a:t>tanpa empat baris audit, bukan model utama.</a:t>
            </a:r>
          </a:p>
        </p:txBody>
      </p:sp>
      <p:sp>
        <p:nvSpPr>
          <p:cNvPr id="19" name="TextBox 18"/>
          <p:cNvSpPr txBox="1"/>
          <p:nvPr/>
        </p:nvSpPr>
        <p:spPr>
          <a:xfrm>
            <a:off x="548640" y="6053328"/>
            <a:ext cx="10972800" cy="256032"/>
          </a:xfrm>
          <a:prstGeom prst="rect">
            <a:avLst/>
          </a:prstGeom>
          <a:noFill/>
        </p:spPr>
        <p:txBody>
          <a:bodyPr wrap="square" lIns="18288" tIns="0" rIns="18288" bIns="0">
            <a:spAutoFit/>
          </a:bodyPr>
          <a:lstStyle/>
          <a:p>
            <a:pPr algn="l">
              <a:spcAft>
                <a:spcPts val="600"/>
              </a:spcAft>
              <a:defRPr sz="1500" b="0">
                <a:solidFill>
                  <a:srgbClr val="586B62"/>
                </a:solidFill>
                <a:latin typeface="Calibri"/>
              </a:defRPr>
            </a:pPr>
            <a:r>
              <a:t>Periksa residual, Q–Q, Cook, multikolinearitas, dan desain pengumpulan data.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292608"/>
            <a:ext cx="502920" cy="41148"/>
          </a:xfrm>
          <a:prstGeom prst="rect">
            <a:avLst/>
          </a:prstGeom>
          <a:solidFill>
            <a:srgbClr val="C39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15568" y="201168"/>
            <a:ext cx="9144000" cy="256032"/>
          </a:xfrm>
          <a:prstGeom prst="rect">
            <a:avLst/>
          </a:prstGeom>
          <a:noFill/>
        </p:spPr>
        <p:txBody>
          <a:bodyPr wrap="square" lIns="18288" tIns="0" rIns="18288" bIns="0">
            <a:spAutoFit/>
          </a:bodyPr>
          <a:lstStyle/>
          <a:p>
            <a:pPr algn="l">
              <a:spcAft>
                <a:spcPts val="600"/>
              </a:spcAft>
              <a:defRPr sz="1100" b="1">
                <a:solidFill>
                  <a:srgbClr val="586B62"/>
                </a:solidFill>
                <a:latin typeface="Calibri"/>
              </a:defRPr>
            </a:pPr>
            <a:r>
              <a:t>PREDIKSI &amp; VALIDASI</a:t>
            </a:r>
          </a:p>
        </p:txBody>
      </p:sp>
      <p:sp>
        <p:nvSpPr>
          <p:cNvPr id="4" name="TextBox 3"/>
          <p:cNvSpPr txBox="1"/>
          <p:nvPr/>
        </p:nvSpPr>
        <p:spPr>
          <a:xfrm>
            <a:off x="10945368" y="164592"/>
            <a:ext cx="685800" cy="411480"/>
          </a:xfrm>
          <a:prstGeom prst="rect">
            <a:avLst/>
          </a:prstGeom>
          <a:noFill/>
        </p:spPr>
        <p:txBody>
          <a:bodyPr wrap="square" lIns="18288" tIns="0" rIns="18288" bIns="0">
            <a:spAutoFit/>
          </a:bodyPr>
          <a:lstStyle/>
          <a:p>
            <a:pPr algn="r">
              <a:spcAft>
                <a:spcPts val="600"/>
              </a:spcAft>
              <a:defRPr sz="2200" b="1">
                <a:solidFill>
                  <a:srgbClr val="174C3F"/>
                </a:solidFill>
                <a:latin typeface="Calibri"/>
              </a:defRPr>
            </a:pPr>
            <a:r>
              <a:t>05</a:t>
            </a:r>
          </a:p>
        </p:txBody>
      </p:sp>
      <p:sp>
        <p:nvSpPr>
          <p:cNvPr id="5" name="TextBox 4"/>
          <p:cNvSpPr txBox="1"/>
          <p:nvPr/>
        </p:nvSpPr>
        <p:spPr>
          <a:xfrm>
            <a:off x="502920" y="713232"/>
            <a:ext cx="11109960" cy="886968"/>
          </a:xfrm>
          <a:prstGeom prst="rect">
            <a:avLst/>
          </a:prstGeom>
          <a:noFill/>
        </p:spPr>
        <p:txBody>
          <a:bodyPr wrap="square" lIns="18288" tIns="0" rIns="18288" bIns="0">
            <a:spAutoFit/>
          </a:bodyPr>
          <a:lstStyle/>
          <a:p>
            <a:pPr algn="l">
              <a:spcAft>
                <a:spcPts val="600"/>
              </a:spcAft>
              <a:defRPr sz="3200" b="1">
                <a:solidFill>
                  <a:srgbClr val="174C3F"/>
                </a:solidFill>
                <a:latin typeface="Calibri"/>
              </a:defRPr>
            </a:pPr>
            <a:r>
              <a:t>Pilih model di data latih; evaluasi di data uji</a:t>
            </a:r>
          </a:p>
        </p:txBody>
      </p:sp>
      <p:sp>
        <p:nvSpPr>
          <p:cNvPr id="6" name="TextBox 5"/>
          <p:cNvSpPr txBox="1"/>
          <p:nvPr/>
        </p:nvSpPr>
        <p:spPr>
          <a:xfrm>
            <a:off x="521207" y="1517904"/>
            <a:ext cx="11064240" cy="502920"/>
          </a:xfrm>
          <a:prstGeom prst="rect">
            <a:avLst/>
          </a:prstGeom>
          <a:noFill/>
        </p:spPr>
        <p:txBody>
          <a:bodyPr wrap="square" lIns="18288" tIns="0" rIns="18288" bIns="0">
            <a:spAutoFit/>
          </a:bodyPr>
          <a:lstStyle/>
          <a:p>
            <a:pPr algn="l">
              <a:spcAft>
                <a:spcPts val="600"/>
              </a:spcAft>
              <a:defRPr sz="1700" b="0">
                <a:solidFill>
                  <a:srgbClr val="586B62"/>
                </a:solidFill>
                <a:latin typeface="Calibri"/>
              </a:defRPr>
            </a:pPr>
            <a:r>
              <a:t>Protokol sumber dipertahankan: LCG Park–Miller, state awal 2026.</a:t>
            </a:r>
          </a:p>
        </p:txBody>
      </p:sp>
      <p:sp>
        <p:nvSpPr>
          <p:cNvPr id="7" name="Rectangle 6"/>
          <p:cNvSpPr/>
          <p:nvPr/>
        </p:nvSpPr>
        <p:spPr>
          <a:xfrm>
            <a:off x="502920" y="6428232"/>
            <a:ext cx="11155680" cy="13716"/>
          </a:xfrm>
          <a:prstGeom prst="rect">
            <a:avLst/>
          </a:prstGeom>
          <a:solidFill>
            <a:srgbClr val="D5E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19672"/>
            <a:ext cx="10469880" cy="192024"/>
          </a:xfrm>
          <a:prstGeom prst="rect">
            <a:avLst/>
          </a:prstGeom>
          <a:noFill/>
        </p:spPr>
        <p:txBody>
          <a:bodyPr wrap="square" lIns="18288" tIns="0" rIns="18288" bIns="0">
            <a:spAutoFit/>
          </a:bodyPr>
          <a:lstStyle/>
          <a:p>
            <a:pPr algn="l">
              <a:spcAft>
                <a:spcPts val="600"/>
              </a:spcAft>
              <a:defRPr sz="900" b="0">
                <a:solidFill>
                  <a:srgbClr val="586B62"/>
                </a:solidFill>
                <a:latin typeface="Calibri"/>
              </a:defRPr>
            </a:pPr>
            <a:r>
              <a:t>Sumber protokol: skrip R unggahan; ntree=300, mtry=3. Angka hasil berikut adalah pendamping Python, bukan eksekusi R.</a:t>
            </a:r>
          </a:p>
        </p:txBody>
      </p:sp>
      <p:sp>
        <p:nvSpPr>
          <p:cNvPr id="9" name="TextBox 8"/>
          <p:cNvSpPr txBox="1"/>
          <p:nvPr/>
        </p:nvSpPr>
        <p:spPr>
          <a:xfrm>
            <a:off x="11045952" y="6492240"/>
            <a:ext cx="594360" cy="228600"/>
          </a:xfrm>
          <a:prstGeom prst="rect">
            <a:avLst/>
          </a:prstGeom>
          <a:noFill/>
        </p:spPr>
        <p:txBody>
          <a:bodyPr wrap="square" lIns="18288" tIns="0" rIns="18288" bIns="0">
            <a:spAutoFit/>
          </a:bodyPr>
          <a:lstStyle/>
          <a:p>
            <a:pPr algn="r">
              <a:spcAft>
                <a:spcPts val="600"/>
              </a:spcAft>
              <a:defRPr sz="1000" b="0">
                <a:solidFill>
                  <a:srgbClr val="586B62"/>
                </a:solidFill>
                <a:latin typeface="Calibri"/>
              </a:defRPr>
            </a:pPr>
            <a:r>
              <a:t>5 / 7</a:t>
            </a:r>
          </a:p>
        </p:txBody>
      </p:sp>
      <p:sp>
        <p:nvSpPr>
          <p:cNvPr id="10" name="Rounded Rectangle 9"/>
          <p:cNvSpPr/>
          <p:nvPr/>
        </p:nvSpPr>
        <p:spPr>
          <a:xfrm>
            <a:off x="521207" y="2212848"/>
            <a:ext cx="2578608" cy="1280160"/>
          </a:xfrm>
          <a:prstGeom prst="roundRect">
            <a:avLst>
              <a:gd name="adj" fmla="val 10000"/>
            </a:avLst>
          </a:prstGeom>
          <a:solidFill>
            <a:srgbClr val="EC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76656" y="2368296"/>
            <a:ext cx="2240280" cy="320040"/>
          </a:xfrm>
          <a:prstGeom prst="rect">
            <a:avLst/>
          </a:prstGeom>
          <a:noFill/>
        </p:spPr>
        <p:txBody>
          <a:bodyPr wrap="square" lIns="18288" tIns="0" rIns="18288" bIns="0">
            <a:spAutoFit/>
          </a:bodyPr>
          <a:lstStyle/>
          <a:p>
            <a:pPr algn="l">
              <a:spcAft>
                <a:spcPts val="600"/>
              </a:spcAft>
              <a:defRPr sz="1600" b="1">
                <a:solidFill>
                  <a:srgbClr val="174C3F"/>
                </a:solidFill>
                <a:latin typeface="Calibri"/>
              </a:defRPr>
            </a:pPr>
            <a:r>
              <a:t>SPLIT 80 : 20</a:t>
            </a:r>
          </a:p>
        </p:txBody>
      </p:sp>
      <p:sp>
        <p:nvSpPr>
          <p:cNvPr id="12" name="TextBox 11"/>
          <p:cNvSpPr txBox="1"/>
          <p:nvPr/>
        </p:nvSpPr>
        <p:spPr>
          <a:xfrm>
            <a:off x="676656" y="2843784"/>
            <a:ext cx="2240280" cy="530352"/>
          </a:xfrm>
          <a:prstGeom prst="rect">
            <a:avLst/>
          </a:prstGeom>
          <a:noFill/>
        </p:spPr>
        <p:txBody>
          <a:bodyPr wrap="square" lIns="18288" tIns="0" rIns="18288" bIns="0">
            <a:spAutoFit/>
          </a:bodyPr>
          <a:lstStyle/>
          <a:p>
            <a:pPr algn="l">
              <a:spcAft>
                <a:spcPts val="600"/>
              </a:spcAft>
              <a:defRPr sz="1800" b="0">
                <a:solidFill>
                  <a:srgbClr val="20332C"/>
                </a:solidFill>
                <a:latin typeface="Calibri"/>
              </a:defRPr>
            </a:pPr>
            <a:r>
              <a:t>3.341 latih</a:t>
            </a:r>
          </a:p>
          <a:p>
            <a:pPr algn="l">
              <a:spcAft>
                <a:spcPts val="600"/>
              </a:spcAft>
              <a:defRPr sz="1800" b="0">
                <a:solidFill>
                  <a:srgbClr val="20332C"/>
                </a:solidFill>
                <a:latin typeface="Calibri"/>
              </a:defRPr>
            </a:pPr>
            <a:r>
              <a:t>836 uji</a:t>
            </a:r>
          </a:p>
        </p:txBody>
      </p:sp>
      <p:sp>
        <p:nvSpPr>
          <p:cNvPr id="13" name="TextBox 12"/>
          <p:cNvSpPr txBox="1"/>
          <p:nvPr/>
        </p:nvSpPr>
        <p:spPr>
          <a:xfrm>
            <a:off x="3145536" y="2715768"/>
            <a:ext cx="237744" cy="320040"/>
          </a:xfrm>
          <a:prstGeom prst="rect">
            <a:avLst/>
          </a:prstGeom>
          <a:noFill/>
        </p:spPr>
        <p:txBody>
          <a:bodyPr wrap="square" lIns="18288" tIns="0" rIns="18288" bIns="0">
            <a:spAutoFit/>
          </a:bodyPr>
          <a:lstStyle/>
          <a:p>
            <a:pPr algn="l">
              <a:spcAft>
                <a:spcPts val="600"/>
              </a:spcAft>
              <a:defRPr sz="2000" b="1">
                <a:solidFill>
                  <a:srgbClr val="174C3F"/>
                </a:solidFill>
                <a:latin typeface="Calibri"/>
              </a:defRPr>
            </a:pPr>
            <a:r>
              <a:t>→</a:t>
            </a:r>
          </a:p>
        </p:txBody>
      </p:sp>
      <p:sp>
        <p:nvSpPr>
          <p:cNvPr id="14" name="Rounded Rectangle 13"/>
          <p:cNvSpPr/>
          <p:nvPr/>
        </p:nvSpPr>
        <p:spPr>
          <a:xfrm>
            <a:off x="3374136" y="2212848"/>
            <a:ext cx="2578608" cy="1280160"/>
          </a:xfrm>
          <a:prstGeom prst="roundRect">
            <a:avLst>
              <a:gd name="adj" fmla="val 10000"/>
            </a:avLst>
          </a:prstGeom>
          <a:solidFill>
            <a:srgbClr val="EC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29584" y="2368296"/>
            <a:ext cx="2240280" cy="320040"/>
          </a:xfrm>
          <a:prstGeom prst="rect">
            <a:avLst/>
          </a:prstGeom>
          <a:noFill/>
        </p:spPr>
        <p:txBody>
          <a:bodyPr wrap="square" lIns="18288" tIns="0" rIns="18288" bIns="0">
            <a:spAutoFit/>
          </a:bodyPr>
          <a:lstStyle/>
          <a:p>
            <a:pPr algn="l">
              <a:spcAft>
                <a:spcPts val="600"/>
              </a:spcAft>
              <a:defRPr sz="1600" b="1">
                <a:solidFill>
                  <a:srgbClr val="174C3F"/>
                </a:solidFill>
                <a:latin typeface="Calibri"/>
              </a:defRPr>
            </a:pPr>
            <a:r>
              <a:t>CV 5 FOLD</a:t>
            </a:r>
          </a:p>
        </p:txBody>
      </p:sp>
      <p:sp>
        <p:nvSpPr>
          <p:cNvPr id="16" name="TextBox 15"/>
          <p:cNvSpPr txBox="1"/>
          <p:nvPr/>
        </p:nvSpPr>
        <p:spPr>
          <a:xfrm>
            <a:off x="3529584" y="2843784"/>
            <a:ext cx="2240280" cy="530352"/>
          </a:xfrm>
          <a:prstGeom prst="rect">
            <a:avLst/>
          </a:prstGeom>
          <a:noFill/>
        </p:spPr>
        <p:txBody>
          <a:bodyPr wrap="square" lIns="18288" tIns="0" rIns="18288" bIns="0">
            <a:spAutoFit/>
          </a:bodyPr>
          <a:lstStyle/>
          <a:p>
            <a:pPr algn="l">
              <a:spcAft>
                <a:spcPts val="600"/>
              </a:spcAft>
              <a:defRPr sz="1800" b="0">
                <a:solidFill>
                  <a:srgbClr val="20332C"/>
                </a:solidFill>
                <a:latin typeface="Calibri"/>
              </a:defRPr>
            </a:pPr>
            <a:r>
              <a:t>Latih ulang</a:t>
            </a:r>
          </a:p>
          <a:p>
            <a:pPr algn="l">
              <a:spcAft>
                <a:spcPts val="600"/>
              </a:spcAft>
              <a:defRPr sz="1800" b="0">
                <a:solidFill>
                  <a:srgbClr val="20332C"/>
                </a:solidFill>
                <a:latin typeface="Calibri"/>
              </a:defRPr>
            </a:pPr>
            <a:r>
              <a:t>di tiap fold</a:t>
            </a:r>
          </a:p>
        </p:txBody>
      </p:sp>
      <p:sp>
        <p:nvSpPr>
          <p:cNvPr id="17" name="TextBox 16"/>
          <p:cNvSpPr txBox="1"/>
          <p:nvPr/>
        </p:nvSpPr>
        <p:spPr>
          <a:xfrm>
            <a:off x="5998464" y="2715768"/>
            <a:ext cx="237744" cy="320040"/>
          </a:xfrm>
          <a:prstGeom prst="rect">
            <a:avLst/>
          </a:prstGeom>
          <a:noFill/>
        </p:spPr>
        <p:txBody>
          <a:bodyPr wrap="square" lIns="18288" tIns="0" rIns="18288" bIns="0">
            <a:spAutoFit/>
          </a:bodyPr>
          <a:lstStyle/>
          <a:p>
            <a:pPr algn="l">
              <a:spcAft>
                <a:spcPts val="600"/>
              </a:spcAft>
              <a:defRPr sz="2000" b="1">
                <a:solidFill>
                  <a:srgbClr val="174C3F"/>
                </a:solidFill>
                <a:latin typeface="Calibri"/>
              </a:defRPr>
            </a:pPr>
            <a:r>
              <a:t>→</a:t>
            </a:r>
          </a:p>
        </p:txBody>
      </p:sp>
      <p:sp>
        <p:nvSpPr>
          <p:cNvPr id="18" name="Rounded Rectangle 17"/>
          <p:cNvSpPr/>
          <p:nvPr/>
        </p:nvSpPr>
        <p:spPr>
          <a:xfrm>
            <a:off x="6227064" y="2212848"/>
            <a:ext cx="2578608" cy="1280160"/>
          </a:xfrm>
          <a:prstGeom prst="roundRect">
            <a:avLst>
              <a:gd name="adj" fmla="val 10000"/>
            </a:avLst>
          </a:prstGeom>
          <a:solidFill>
            <a:srgbClr val="EC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82512" y="2368296"/>
            <a:ext cx="2240280" cy="320040"/>
          </a:xfrm>
          <a:prstGeom prst="rect">
            <a:avLst/>
          </a:prstGeom>
          <a:noFill/>
        </p:spPr>
        <p:txBody>
          <a:bodyPr wrap="square" lIns="18288" tIns="0" rIns="18288" bIns="0">
            <a:spAutoFit/>
          </a:bodyPr>
          <a:lstStyle/>
          <a:p>
            <a:pPr algn="l">
              <a:spcAft>
                <a:spcPts val="600"/>
              </a:spcAft>
              <a:defRPr sz="1600" b="1">
                <a:solidFill>
                  <a:srgbClr val="174C3F"/>
                </a:solidFill>
                <a:latin typeface="Calibri"/>
              </a:defRPr>
            </a:pPr>
            <a:r>
              <a:t>PILIH MODEL</a:t>
            </a:r>
          </a:p>
        </p:txBody>
      </p:sp>
      <p:sp>
        <p:nvSpPr>
          <p:cNvPr id="20" name="TextBox 19"/>
          <p:cNvSpPr txBox="1"/>
          <p:nvPr/>
        </p:nvSpPr>
        <p:spPr>
          <a:xfrm>
            <a:off x="6382512" y="2843784"/>
            <a:ext cx="2240280" cy="530352"/>
          </a:xfrm>
          <a:prstGeom prst="rect">
            <a:avLst/>
          </a:prstGeom>
          <a:noFill/>
        </p:spPr>
        <p:txBody>
          <a:bodyPr wrap="square" lIns="18288" tIns="0" rIns="18288" bIns="0">
            <a:spAutoFit/>
          </a:bodyPr>
          <a:lstStyle/>
          <a:p>
            <a:pPr algn="l">
              <a:spcAft>
                <a:spcPts val="600"/>
              </a:spcAft>
              <a:defRPr sz="1800" b="0">
                <a:solidFill>
                  <a:srgbClr val="20332C"/>
                </a:solidFill>
                <a:latin typeface="Calibri"/>
              </a:defRPr>
            </a:pPr>
            <a:r>
              <a:t>RMSE gabungan</a:t>
            </a:r>
          </a:p>
          <a:p>
            <a:pPr algn="l">
              <a:spcAft>
                <a:spcPts val="600"/>
              </a:spcAft>
              <a:defRPr sz="1800" b="0">
                <a:solidFill>
                  <a:srgbClr val="20332C"/>
                </a:solidFill>
                <a:latin typeface="Calibri"/>
              </a:defRPr>
            </a:pPr>
            <a:r>
              <a:t>prediksi OOF</a:t>
            </a:r>
          </a:p>
        </p:txBody>
      </p:sp>
      <p:sp>
        <p:nvSpPr>
          <p:cNvPr id="21" name="TextBox 20"/>
          <p:cNvSpPr txBox="1"/>
          <p:nvPr/>
        </p:nvSpPr>
        <p:spPr>
          <a:xfrm>
            <a:off x="8851392" y="2715768"/>
            <a:ext cx="237744" cy="320040"/>
          </a:xfrm>
          <a:prstGeom prst="rect">
            <a:avLst/>
          </a:prstGeom>
          <a:noFill/>
        </p:spPr>
        <p:txBody>
          <a:bodyPr wrap="square" lIns="18288" tIns="0" rIns="18288" bIns="0">
            <a:spAutoFit/>
          </a:bodyPr>
          <a:lstStyle/>
          <a:p>
            <a:pPr algn="l">
              <a:spcAft>
                <a:spcPts val="600"/>
              </a:spcAft>
              <a:defRPr sz="2000" b="1">
                <a:solidFill>
                  <a:srgbClr val="174C3F"/>
                </a:solidFill>
                <a:latin typeface="Calibri"/>
              </a:defRPr>
            </a:pPr>
            <a:r>
              <a:t>→</a:t>
            </a:r>
          </a:p>
        </p:txBody>
      </p:sp>
      <p:sp>
        <p:nvSpPr>
          <p:cNvPr id="22" name="Rounded Rectangle 21"/>
          <p:cNvSpPr/>
          <p:nvPr/>
        </p:nvSpPr>
        <p:spPr>
          <a:xfrm>
            <a:off x="9079992" y="2212848"/>
            <a:ext cx="2578608" cy="1280160"/>
          </a:xfrm>
          <a:prstGeom prst="roundRect">
            <a:avLst>
              <a:gd name="adj" fmla="val 10000"/>
            </a:avLst>
          </a:prstGeom>
          <a:solidFill>
            <a:srgbClr val="EC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235440" y="2368296"/>
            <a:ext cx="2240280" cy="320040"/>
          </a:xfrm>
          <a:prstGeom prst="rect">
            <a:avLst/>
          </a:prstGeom>
          <a:noFill/>
        </p:spPr>
        <p:txBody>
          <a:bodyPr wrap="square" lIns="18288" tIns="0" rIns="18288" bIns="0">
            <a:spAutoFit/>
          </a:bodyPr>
          <a:lstStyle/>
          <a:p>
            <a:pPr algn="l">
              <a:spcAft>
                <a:spcPts val="600"/>
              </a:spcAft>
              <a:defRPr sz="1600" b="1">
                <a:solidFill>
                  <a:srgbClr val="174C3F"/>
                </a:solidFill>
                <a:latin typeface="Calibri"/>
              </a:defRPr>
            </a:pPr>
            <a:r>
              <a:t>UJI TERPISAH</a:t>
            </a:r>
          </a:p>
        </p:txBody>
      </p:sp>
      <p:sp>
        <p:nvSpPr>
          <p:cNvPr id="24" name="TextBox 23"/>
          <p:cNvSpPr txBox="1"/>
          <p:nvPr/>
        </p:nvSpPr>
        <p:spPr>
          <a:xfrm>
            <a:off x="9235440" y="2843784"/>
            <a:ext cx="2240280" cy="530352"/>
          </a:xfrm>
          <a:prstGeom prst="rect">
            <a:avLst/>
          </a:prstGeom>
          <a:noFill/>
        </p:spPr>
        <p:txBody>
          <a:bodyPr wrap="square" lIns="18288" tIns="0" rIns="18288" bIns="0">
            <a:spAutoFit/>
          </a:bodyPr>
          <a:lstStyle/>
          <a:p>
            <a:pPr algn="l">
              <a:spcAft>
                <a:spcPts val="600"/>
              </a:spcAft>
              <a:defRPr sz="1800" b="0">
                <a:solidFill>
                  <a:srgbClr val="20332C"/>
                </a:solidFill>
                <a:latin typeface="Calibri"/>
              </a:defRPr>
            </a:pPr>
            <a:r>
              <a:t>Evaluasi sekali</a:t>
            </a:r>
          </a:p>
          <a:p>
            <a:pPr algn="l">
              <a:spcAft>
                <a:spcPts val="600"/>
              </a:spcAft>
              <a:defRPr sz="1800" b="0">
                <a:solidFill>
                  <a:srgbClr val="20332C"/>
                </a:solidFill>
                <a:latin typeface="Calibri"/>
              </a:defRPr>
            </a:pPr>
            <a:r>
              <a:t>tanpa memilih ulang</a:t>
            </a:r>
          </a:p>
        </p:txBody>
      </p:sp>
      <p:sp>
        <p:nvSpPr>
          <p:cNvPr id="25" name="TextBox 24"/>
          <p:cNvSpPr txBox="1"/>
          <p:nvPr/>
        </p:nvSpPr>
        <p:spPr>
          <a:xfrm>
            <a:off x="576072" y="3776472"/>
            <a:ext cx="5120640" cy="320040"/>
          </a:xfrm>
          <a:prstGeom prst="rect">
            <a:avLst/>
          </a:prstGeom>
          <a:noFill/>
        </p:spPr>
        <p:txBody>
          <a:bodyPr wrap="square" lIns="18288" tIns="0" rIns="18288" bIns="0">
            <a:spAutoFit/>
          </a:bodyPr>
          <a:lstStyle/>
          <a:p>
            <a:pPr algn="l">
              <a:spcAft>
                <a:spcPts val="600"/>
              </a:spcAft>
              <a:defRPr sz="1400" b="1">
                <a:solidFill>
                  <a:srgbClr val="174C3F"/>
                </a:solidFill>
                <a:latin typeface="Calibri"/>
              </a:defRPr>
            </a:pPr>
            <a:r>
              <a:t>LIMA MODEL PEMBANDING</a:t>
            </a:r>
          </a:p>
        </p:txBody>
      </p:sp>
      <p:sp>
        <p:nvSpPr>
          <p:cNvPr id="26" name="TextBox 25"/>
          <p:cNvSpPr txBox="1"/>
          <p:nvPr/>
        </p:nvSpPr>
        <p:spPr>
          <a:xfrm>
            <a:off x="576072" y="4215384"/>
            <a:ext cx="7040880" cy="859536"/>
          </a:xfrm>
          <a:prstGeom prst="rect">
            <a:avLst/>
          </a:prstGeom>
          <a:noFill/>
        </p:spPr>
        <p:txBody>
          <a:bodyPr wrap="square" lIns="18288" tIns="0" rIns="18288" bIns="0">
            <a:spAutoFit/>
          </a:bodyPr>
          <a:lstStyle/>
          <a:p>
            <a:pPr algn="l">
              <a:spcAft>
                <a:spcPts val="600"/>
              </a:spcAft>
              <a:defRPr sz="2300" b="0">
                <a:solidFill>
                  <a:srgbClr val="20332C"/>
                </a:solidFill>
                <a:latin typeface="Calibri"/>
              </a:defRPr>
            </a:pPr>
            <a:r>
              <a:t>Rata-rata → OLS sederhana → OLS berganda</a:t>
            </a:r>
          </a:p>
          <a:p>
            <a:pPr algn="l">
              <a:spcAft>
                <a:spcPts val="600"/>
              </a:spcAft>
              <a:defRPr sz="2300" b="0">
                <a:solidFill>
                  <a:srgbClr val="20332C"/>
                </a:solidFill>
                <a:latin typeface="Calibri"/>
              </a:defRPr>
            </a:pPr>
            <a:r>
              <a:t>Pohon regresi → Random Forest (300 pohon)</a:t>
            </a:r>
          </a:p>
        </p:txBody>
      </p:sp>
      <p:sp>
        <p:nvSpPr>
          <p:cNvPr id="27" name="TextBox 26"/>
          <p:cNvSpPr txBox="1"/>
          <p:nvPr/>
        </p:nvSpPr>
        <p:spPr>
          <a:xfrm>
            <a:off x="8238744" y="3776472"/>
            <a:ext cx="3236976" cy="320040"/>
          </a:xfrm>
          <a:prstGeom prst="rect">
            <a:avLst/>
          </a:prstGeom>
          <a:noFill/>
        </p:spPr>
        <p:txBody>
          <a:bodyPr wrap="square" lIns="18288" tIns="0" rIns="18288" bIns="0">
            <a:spAutoFit/>
          </a:bodyPr>
          <a:lstStyle/>
          <a:p>
            <a:pPr algn="l">
              <a:spcAft>
                <a:spcPts val="600"/>
              </a:spcAft>
              <a:defRPr sz="1400" b="1">
                <a:solidFill>
                  <a:srgbClr val="174C3F"/>
                </a:solidFill>
                <a:latin typeface="Calibri"/>
              </a:defRPr>
            </a:pPr>
            <a:r>
              <a:t>METRIK</a:t>
            </a:r>
          </a:p>
        </p:txBody>
      </p:sp>
      <p:sp>
        <p:nvSpPr>
          <p:cNvPr id="28" name="TextBox 27"/>
          <p:cNvSpPr txBox="1"/>
          <p:nvPr/>
        </p:nvSpPr>
        <p:spPr>
          <a:xfrm>
            <a:off x="8238744" y="4215384"/>
            <a:ext cx="3236976" cy="1143000"/>
          </a:xfrm>
          <a:prstGeom prst="rect">
            <a:avLst/>
          </a:prstGeom>
          <a:noFill/>
        </p:spPr>
        <p:txBody>
          <a:bodyPr wrap="square" lIns="18288" tIns="0" rIns="18288" bIns="0">
            <a:spAutoFit/>
          </a:bodyPr>
          <a:lstStyle/>
          <a:p>
            <a:pPr algn="l">
              <a:spcAft>
                <a:spcPts val="600"/>
              </a:spcAft>
              <a:defRPr sz="2000" b="0">
                <a:solidFill>
                  <a:srgbClr val="20332C"/>
                </a:solidFill>
                <a:latin typeface="Calibri"/>
              </a:defRPr>
            </a:pPr>
            <a:r>
              <a:t>MAE / RMSE: lebih kecil</a:t>
            </a:r>
          </a:p>
          <a:p>
            <a:pPr algn="l">
              <a:spcAft>
                <a:spcPts val="600"/>
              </a:spcAft>
              <a:defRPr sz="2000" b="0">
                <a:solidFill>
                  <a:srgbClr val="20332C"/>
                </a:solidFill>
                <a:latin typeface="Calibri"/>
              </a:defRPr>
            </a:pPr>
            <a:r>
              <a:t>R² uji: dapat negatif</a:t>
            </a:r>
          </a:p>
          <a:p>
            <a:pPr algn="l">
              <a:spcAft>
                <a:spcPts val="600"/>
              </a:spcAft>
              <a:defRPr sz="2000" b="0">
                <a:solidFill>
                  <a:srgbClr val="20332C"/>
                </a:solidFill>
                <a:latin typeface="Calibri"/>
              </a:defRPr>
            </a:pPr>
            <a:r>
              <a:t>Galat bersatuan Rings</a:t>
            </a:r>
          </a:p>
        </p:txBody>
      </p:sp>
      <p:sp>
        <p:nvSpPr>
          <p:cNvPr id="29" name="Rounded Rectangle 28"/>
          <p:cNvSpPr/>
          <p:nvPr/>
        </p:nvSpPr>
        <p:spPr>
          <a:xfrm>
            <a:off x="521207" y="5522976"/>
            <a:ext cx="11128248" cy="594360"/>
          </a:xfrm>
          <a:prstGeom prst="roundRect">
            <a:avLst>
              <a:gd name="adj" fmla="val 10000"/>
            </a:avLst>
          </a:prstGeom>
          <a:solidFill>
            <a:srgbClr val="FFF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40664" y="5687568"/>
            <a:ext cx="10671048" cy="292608"/>
          </a:xfrm>
          <a:prstGeom prst="rect">
            <a:avLst/>
          </a:prstGeom>
          <a:noFill/>
        </p:spPr>
        <p:txBody>
          <a:bodyPr wrap="square" lIns="18288" tIns="0" rIns="18288" bIns="0">
            <a:spAutoFit/>
          </a:bodyPr>
          <a:lstStyle/>
          <a:p>
            <a:pPr algn="l">
              <a:spcAft>
                <a:spcPts val="600"/>
              </a:spcAft>
              <a:defRPr sz="1900" b="1">
                <a:solidFill>
                  <a:srgbClr val="174C3F"/>
                </a:solidFill>
                <a:latin typeface="Calibri"/>
              </a:defRPr>
            </a:pPr>
            <a:r>
              <a:t>Tanpa tuning pada data uji. Koefisien seluruh data tidak digunakan untuk skor uji.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292608"/>
            <a:ext cx="502920" cy="41148"/>
          </a:xfrm>
          <a:prstGeom prst="rect">
            <a:avLst/>
          </a:prstGeom>
          <a:solidFill>
            <a:srgbClr val="C39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15568" y="201168"/>
            <a:ext cx="9144000" cy="256032"/>
          </a:xfrm>
          <a:prstGeom prst="rect">
            <a:avLst/>
          </a:prstGeom>
          <a:noFill/>
        </p:spPr>
        <p:txBody>
          <a:bodyPr wrap="square" lIns="18288" tIns="0" rIns="18288" bIns="0">
            <a:spAutoFit/>
          </a:bodyPr>
          <a:lstStyle/>
          <a:p>
            <a:pPr algn="l">
              <a:spcAft>
                <a:spcPts val="600"/>
              </a:spcAft>
              <a:defRPr sz="1100" b="1">
                <a:solidFill>
                  <a:srgbClr val="586B62"/>
                </a:solidFill>
                <a:latin typeface="Calibri"/>
              </a:defRPr>
            </a:pPr>
            <a:r>
              <a:t>HASIL PENDAMPING PYTHON</a:t>
            </a:r>
          </a:p>
        </p:txBody>
      </p:sp>
      <p:sp>
        <p:nvSpPr>
          <p:cNvPr id="4" name="TextBox 3"/>
          <p:cNvSpPr txBox="1"/>
          <p:nvPr/>
        </p:nvSpPr>
        <p:spPr>
          <a:xfrm>
            <a:off x="10945368" y="164592"/>
            <a:ext cx="685800" cy="411480"/>
          </a:xfrm>
          <a:prstGeom prst="rect">
            <a:avLst/>
          </a:prstGeom>
          <a:noFill/>
        </p:spPr>
        <p:txBody>
          <a:bodyPr wrap="square" lIns="18288" tIns="0" rIns="18288" bIns="0">
            <a:spAutoFit/>
          </a:bodyPr>
          <a:lstStyle/>
          <a:p>
            <a:pPr algn="r">
              <a:spcAft>
                <a:spcPts val="600"/>
              </a:spcAft>
              <a:defRPr sz="2200" b="1">
                <a:solidFill>
                  <a:srgbClr val="174C3F"/>
                </a:solidFill>
                <a:latin typeface="Calibri"/>
              </a:defRPr>
            </a:pPr>
            <a:r>
              <a:t>06</a:t>
            </a:r>
          </a:p>
        </p:txBody>
      </p:sp>
      <p:sp>
        <p:nvSpPr>
          <p:cNvPr id="5" name="TextBox 4"/>
          <p:cNvSpPr txBox="1"/>
          <p:nvPr/>
        </p:nvSpPr>
        <p:spPr>
          <a:xfrm>
            <a:off x="502920" y="713232"/>
            <a:ext cx="11109960" cy="886968"/>
          </a:xfrm>
          <a:prstGeom prst="rect">
            <a:avLst/>
          </a:prstGeom>
          <a:noFill/>
        </p:spPr>
        <p:txBody>
          <a:bodyPr wrap="square" lIns="18288" tIns="0" rIns="18288" bIns="0">
            <a:spAutoFit/>
          </a:bodyPr>
          <a:lstStyle/>
          <a:p>
            <a:pPr algn="l">
              <a:spcAft>
                <a:spcPts val="600"/>
              </a:spcAft>
              <a:defRPr sz="3200" b="1">
                <a:solidFill>
                  <a:srgbClr val="174C3F"/>
                </a:solidFill>
                <a:latin typeface="Calibri"/>
              </a:defRPr>
            </a:pPr>
            <a:r>
              <a:t>Peringkat CV dan data uji tidak harus sama</a:t>
            </a:r>
          </a:p>
        </p:txBody>
      </p:sp>
      <p:sp>
        <p:nvSpPr>
          <p:cNvPr id="6" name="TextBox 5"/>
          <p:cNvSpPr txBox="1"/>
          <p:nvPr/>
        </p:nvSpPr>
        <p:spPr>
          <a:xfrm>
            <a:off x="521207" y="1517904"/>
            <a:ext cx="11064240" cy="502920"/>
          </a:xfrm>
          <a:prstGeom prst="rect">
            <a:avLst/>
          </a:prstGeom>
          <a:noFill/>
        </p:spPr>
        <p:txBody>
          <a:bodyPr wrap="square" lIns="18288" tIns="0" rIns="18288" bIns="0">
            <a:spAutoFit/>
          </a:bodyPr>
          <a:lstStyle/>
          <a:p>
            <a:pPr algn="l">
              <a:spcAft>
                <a:spcPts val="600"/>
              </a:spcAft>
              <a:defRPr sz="1700" b="0">
                <a:solidFill>
                  <a:srgbClr val="586B62"/>
                </a:solidFill>
                <a:latin typeface="Calibri"/>
              </a:defRPr>
            </a:pPr>
            <a:r>
              <a:t>RF dipilih oleh CV. OLS berganda sedikit lebih baik pada RMSE uji.</a:t>
            </a:r>
          </a:p>
        </p:txBody>
      </p:sp>
      <p:sp>
        <p:nvSpPr>
          <p:cNvPr id="7" name="Rectangle 6"/>
          <p:cNvSpPr/>
          <p:nvPr/>
        </p:nvSpPr>
        <p:spPr>
          <a:xfrm>
            <a:off x="502920" y="6428232"/>
            <a:ext cx="11155680" cy="13716"/>
          </a:xfrm>
          <a:prstGeom prst="rect">
            <a:avLst/>
          </a:prstGeom>
          <a:solidFill>
            <a:srgbClr val="D5E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19672"/>
            <a:ext cx="10469880" cy="192024"/>
          </a:xfrm>
          <a:prstGeom prst="rect">
            <a:avLst/>
          </a:prstGeom>
          <a:noFill/>
        </p:spPr>
        <p:txBody>
          <a:bodyPr wrap="square" lIns="18288" tIns="0" rIns="18288" bIns="0">
            <a:spAutoFit/>
          </a:bodyPr>
          <a:lstStyle/>
          <a:p>
            <a:pPr algn="l">
              <a:spcAft>
                <a:spcPts val="600"/>
              </a:spcAft>
              <a:defRPr sz="900" b="0">
                <a:solidFill>
                  <a:srgbClr val="586B62"/>
                </a:solidFill>
                <a:latin typeface="Calibri"/>
              </a:defRPr>
            </a:pPr>
            <a:r>
              <a:t>Perhitungan: Python, split/fold sesuai sumber. CI kondisional model tetap, bootstrap berpasangan 2.000 kali; bukan interval individu.</a:t>
            </a:r>
          </a:p>
        </p:txBody>
      </p:sp>
      <p:sp>
        <p:nvSpPr>
          <p:cNvPr id="9" name="TextBox 8"/>
          <p:cNvSpPr txBox="1"/>
          <p:nvPr/>
        </p:nvSpPr>
        <p:spPr>
          <a:xfrm>
            <a:off x="11045952" y="6492240"/>
            <a:ext cx="594360" cy="228600"/>
          </a:xfrm>
          <a:prstGeom prst="rect">
            <a:avLst/>
          </a:prstGeom>
          <a:noFill/>
        </p:spPr>
        <p:txBody>
          <a:bodyPr wrap="square" lIns="18288" tIns="0" rIns="18288" bIns="0">
            <a:spAutoFit/>
          </a:bodyPr>
          <a:lstStyle/>
          <a:p>
            <a:pPr algn="r">
              <a:spcAft>
                <a:spcPts val="600"/>
              </a:spcAft>
              <a:defRPr sz="1000" b="0">
                <a:solidFill>
                  <a:srgbClr val="586B62"/>
                </a:solidFill>
                <a:latin typeface="Calibri"/>
              </a:defRPr>
            </a:pPr>
            <a:r>
              <a:t>6 / 7</a:t>
            </a:r>
          </a:p>
        </p:txBody>
      </p:sp>
      <p:sp>
        <p:nvSpPr>
          <p:cNvPr id="10" name="Rounded Rectangle 9"/>
          <p:cNvSpPr/>
          <p:nvPr/>
        </p:nvSpPr>
        <p:spPr>
          <a:xfrm>
            <a:off x="521207" y="2048256"/>
            <a:ext cx="3529584" cy="338328"/>
          </a:xfrm>
          <a:prstGeom prst="roundRect">
            <a:avLst>
              <a:gd name="adj" fmla="val 10000"/>
            </a:avLst>
          </a:prstGeom>
          <a:solidFill>
            <a:srgbClr val="FFF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12647" y="2098548"/>
            <a:ext cx="3346703" cy="246888"/>
          </a:xfrm>
          <a:prstGeom prst="rect">
            <a:avLst/>
          </a:prstGeom>
          <a:noFill/>
        </p:spPr>
        <p:txBody>
          <a:bodyPr wrap="square" lIns="18288" tIns="0" rIns="18288" bIns="0">
            <a:spAutoFit/>
          </a:bodyPr>
          <a:lstStyle/>
          <a:p>
            <a:pPr algn="l">
              <a:spcAft>
                <a:spcPts val="600"/>
              </a:spcAft>
              <a:defRPr sz="1100" b="1">
                <a:solidFill>
                  <a:srgbClr val="174C3F"/>
                </a:solidFill>
                <a:latin typeface="Calibri"/>
              </a:defRPr>
            </a:pPr>
            <a:r>
              <a:t>BUKAN HASIL EKSEKUSI R</a:t>
            </a:r>
          </a:p>
        </p:txBody>
      </p:sp>
      <p:graphicFrame>
        <p:nvGraphicFramePr>
          <p:cNvPr id="12" name="Table 11"/>
          <p:cNvGraphicFramePr>
            <a:graphicFrameLocks noGrp="1"/>
          </p:cNvGraphicFramePr>
          <p:nvPr/>
        </p:nvGraphicFramePr>
        <p:xfrm>
          <a:off x="521207" y="2660904"/>
          <a:ext cx="11128248" cy="2551176"/>
        </p:xfrm>
        <a:graphic>
          <a:graphicData uri="http://schemas.openxmlformats.org/drawingml/2006/table">
            <a:tbl>
              <a:tblPr firstRow="1" bandRow="1">
                <a:tableStyleId>{5C22544A-7EE6-4342-B048-85BDC9FD1C3A}</a:tableStyleId>
              </a:tblPr>
              <a:tblGrid>
                <a:gridCol w="3666744">
                  <a:extLst>
                    <a:ext uri="{9D8B030D-6E8A-4147-A177-3AD203B41FA5}">
                      <a16:colId xmlns:a16="http://schemas.microsoft.com/office/drawing/2014/main" val="20000"/>
                    </a:ext>
                  </a:extLst>
                </a:gridCol>
                <a:gridCol w="1865376">
                  <a:extLst>
                    <a:ext uri="{9D8B030D-6E8A-4147-A177-3AD203B41FA5}">
                      <a16:colId xmlns:a16="http://schemas.microsoft.com/office/drawing/2014/main" val="20001"/>
                    </a:ext>
                  </a:extLst>
                </a:gridCol>
                <a:gridCol w="1865376">
                  <a:extLst>
                    <a:ext uri="{9D8B030D-6E8A-4147-A177-3AD203B41FA5}">
                      <a16:colId xmlns:a16="http://schemas.microsoft.com/office/drawing/2014/main" val="20002"/>
                    </a:ext>
                  </a:extLst>
                </a:gridCol>
                <a:gridCol w="1865376">
                  <a:extLst>
                    <a:ext uri="{9D8B030D-6E8A-4147-A177-3AD203B41FA5}">
                      <a16:colId xmlns:a16="http://schemas.microsoft.com/office/drawing/2014/main" val="20003"/>
                    </a:ext>
                  </a:extLst>
                </a:gridCol>
                <a:gridCol w="1865376">
                  <a:extLst>
                    <a:ext uri="{9D8B030D-6E8A-4147-A177-3AD203B41FA5}">
                      <a16:colId xmlns:a16="http://schemas.microsoft.com/office/drawing/2014/main" val="20004"/>
                    </a:ext>
                  </a:extLst>
                </a:gridCol>
              </a:tblGrid>
              <a:tr h="425196">
                <a:tc>
                  <a:txBody>
                    <a:bodyPr/>
                    <a:lstStyle/>
                    <a:p>
                      <a:pPr>
                        <a:defRPr sz="1900" b="1">
                          <a:solidFill>
                            <a:srgbClr val="FFFFFF"/>
                          </a:solidFill>
                          <a:latin typeface="Calibri"/>
                        </a:defRPr>
                      </a:pPr>
                      <a:r>
                        <a:t>Model</a:t>
                      </a:r>
                    </a:p>
                  </a:txBody>
                  <a:tcPr marL="109728" marR="109728" marT="73152" anchor="ctr">
                    <a:solidFill>
                      <a:srgbClr val="174C3F"/>
                    </a:solidFill>
                  </a:tcPr>
                </a:tc>
                <a:tc>
                  <a:txBody>
                    <a:bodyPr/>
                    <a:lstStyle/>
                    <a:p>
                      <a:pPr algn="ctr">
                        <a:defRPr sz="1900" b="1">
                          <a:solidFill>
                            <a:srgbClr val="FFFFFF"/>
                          </a:solidFill>
                          <a:latin typeface="Calibri"/>
                        </a:defRPr>
                      </a:pPr>
                      <a:r>
                        <a:t>CV RMSE</a:t>
                      </a:r>
                    </a:p>
                  </a:txBody>
                  <a:tcPr marL="109728" marR="109728" marT="73152" anchor="ctr">
                    <a:solidFill>
                      <a:srgbClr val="174C3F"/>
                    </a:solidFill>
                  </a:tcPr>
                </a:tc>
                <a:tc>
                  <a:txBody>
                    <a:bodyPr/>
                    <a:lstStyle/>
                    <a:p>
                      <a:pPr algn="ctr">
                        <a:defRPr sz="1900" b="1">
                          <a:solidFill>
                            <a:srgbClr val="FFFFFF"/>
                          </a:solidFill>
                          <a:latin typeface="Calibri"/>
                        </a:defRPr>
                      </a:pPr>
                      <a:r>
                        <a:t>Uji MAE</a:t>
                      </a:r>
                    </a:p>
                  </a:txBody>
                  <a:tcPr marL="109728" marR="109728" marT="73152" anchor="ctr">
                    <a:solidFill>
                      <a:srgbClr val="174C3F"/>
                    </a:solidFill>
                  </a:tcPr>
                </a:tc>
                <a:tc>
                  <a:txBody>
                    <a:bodyPr/>
                    <a:lstStyle/>
                    <a:p>
                      <a:pPr algn="ctr">
                        <a:defRPr sz="1900" b="1">
                          <a:solidFill>
                            <a:srgbClr val="FFFFFF"/>
                          </a:solidFill>
                          <a:latin typeface="Calibri"/>
                        </a:defRPr>
                      </a:pPr>
                      <a:r>
                        <a:t>Uji RMSE</a:t>
                      </a:r>
                    </a:p>
                  </a:txBody>
                  <a:tcPr marL="109728" marR="109728" marT="73152" anchor="ctr">
                    <a:solidFill>
                      <a:srgbClr val="174C3F"/>
                    </a:solidFill>
                  </a:tcPr>
                </a:tc>
                <a:tc>
                  <a:txBody>
                    <a:bodyPr/>
                    <a:lstStyle/>
                    <a:p>
                      <a:pPr algn="ctr">
                        <a:defRPr sz="1900" b="1">
                          <a:solidFill>
                            <a:srgbClr val="FFFFFF"/>
                          </a:solidFill>
                          <a:latin typeface="Calibri"/>
                        </a:defRPr>
                      </a:pPr>
                      <a:r>
                        <a:t>Uji R²</a:t>
                      </a:r>
                    </a:p>
                  </a:txBody>
                  <a:tcPr marL="109728" marR="109728" marT="73152" anchor="ctr">
                    <a:solidFill>
                      <a:srgbClr val="174C3F"/>
                    </a:solidFill>
                  </a:tcPr>
                </a:tc>
                <a:extLst>
                  <a:ext uri="{0D108BD9-81ED-4DB2-BD59-A6C34878D82A}">
                    <a16:rowId xmlns:a16="http://schemas.microsoft.com/office/drawing/2014/main" val="10000"/>
                  </a:ext>
                </a:extLst>
              </a:tr>
              <a:tr h="425196">
                <a:tc>
                  <a:txBody>
                    <a:bodyPr/>
                    <a:lstStyle/>
                    <a:p>
                      <a:pPr>
                        <a:defRPr sz="1900" b="0">
                          <a:solidFill>
                            <a:srgbClr val="20332C"/>
                          </a:solidFill>
                          <a:latin typeface="Calibri"/>
                        </a:defRPr>
                      </a:pPr>
                      <a:r>
                        <a:t>Random Forest</a:t>
                      </a:r>
                    </a:p>
                  </a:txBody>
                  <a:tcPr marL="109728" marR="109728" marT="73152" anchor="ctr">
                    <a:solidFill>
                      <a:srgbClr val="ECF3EF"/>
                    </a:solidFill>
                  </a:tcPr>
                </a:tc>
                <a:tc>
                  <a:txBody>
                    <a:bodyPr/>
                    <a:lstStyle/>
                    <a:p>
                      <a:pPr algn="ctr">
                        <a:defRPr sz="1900" b="0">
                          <a:solidFill>
                            <a:srgbClr val="20332C"/>
                          </a:solidFill>
                          <a:latin typeface="Calibri"/>
                        </a:defRPr>
                      </a:pPr>
                      <a:r>
                        <a:t>2,141</a:t>
                      </a:r>
                    </a:p>
                  </a:txBody>
                  <a:tcPr marL="109728" marR="109728" marT="73152" anchor="ctr">
                    <a:solidFill>
                      <a:srgbClr val="ECF3EF"/>
                    </a:solidFill>
                  </a:tcPr>
                </a:tc>
                <a:tc>
                  <a:txBody>
                    <a:bodyPr/>
                    <a:lstStyle/>
                    <a:p>
                      <a:pPr algn="ctr">
                        <a:defRPr sz="1900" b="0">
                          <a:solidFill>
                            <a:srgbClr val="20332C"/>
                          </a:solidFill>
                          <a:latin typeface="Calibri"/>
                        </a:defRPr>
                      </a:pPr>
                      <a:r>
                        <a:t>1,539</a:t>
                      </a:r>
                    </a:p>
                  </a:txBody>
                  <a:tcPr marL="109728" marR="109728" marT="73152" anchor="ctr">
                    <a:solidFill>
                      <a:srgbClr val="ECF3EF"/>
                    </a:solidFill>
                  </a:tcPr>
                </a:tc>
                <a:tc>
                  <a:txBody>
                    <a:bodyPr/>
                    <a:lstStyle/>
                    <a:p>
                      <a:pPr algn="ctr">
                        <a:defRPr sz="1900" b="0">
                          <a:solidFill>
                            <a:srgbClr val="20332C"/>
                          </a:solidFill>
                          <a:latin typeface="Calibri"/>
                        </a:defRPr>
                      </a:pPr>
                      <a:r>
                        <a:t>2,243</a:t>
                      </a:r>
                    </a:p>
                  </a:txBody>
                  <a:tcPr marL="109728" marR="109728" marT="73152" anchor="ctr">
                    <a:solidFill>
                      <a:srgbClr val="ECF3EF"/>
                    </a:solidFill>
                  </a:tcPr>
                </a:tc>
                <a:tc>
                  <a:txBody>
                    <a:bodyPr/>
                    <a:lstStyle/>
                    <a:p>
                      <a:pPr algn="ctr">
                        <a:defRPr sz="1900" b="0">
                          <a:solidFill>
                            <a:srgbClr val="20332C"/>
                          </a:solidFill>
                          <a:latin typeface="Calibri"/>
                        </a:defRPr>
                      </a:pPr>
                      <a:r>
                        <a:t>0,5452</a:t>
                      </a:r>
                    </a:p>
                  </a:txBody>
                  <a:tcPr marL="109728" marR="109728" marT="73152" anchor="ctr">
                    <a:solidFill>
                      <a:srgbClr val="ECF3EF"/>
                    </a:solidFill>
                  </a:tcPr>
                </a:tc>
                <a:extLst>
                  <a:ext uri="{0D108BD9-81ED-4DB2-BD59-A6C34878D82A}">
                    <a16:rowId xmlns:a16="http://schemas.microsoft.com/office/drawing/2014/main" val="10001"/>
                  </a:ext>
                </a:extLst>
              </a:tr>
              <a:tr h="425196">
                <a:tc>
                  <a:txBody>
                    <a:bodyPr/>
                    <a:lstStyle/>
                    <a:p>
                      <a:pPr>
                        <a:defRPr sz="1900" b="0">
                          <a:solidFill>
                            <a:srgbClr val="20332C"/>
                          </a:solidFill>
                          <a:latin typeface="Calibri"/>
                        </a:defRPr>
                      </a:pPr>
                      <a:r>
                        <a:t>Regresi berganda</a:t>
                      </a:r>
                    </a:p>
                  </a:txBody>
                  <a:tcPr marL="109728" marR="109728" marT="73152" anchor="ctr">
                    <a:solidFill>
                      <a:srgbClr val="FFFFFF"/>
                    </a:solidFill>
                  </a:tcPr>
                </a:tc>
                <a:tc>
                  <a:txBody>
                    <a:bodyPr/>
                    <a:lstStyle/>
                    <a:p>
                      <a:pPr algn="ctr">
                        <a:defRPr sz="1900" b="0">
                          <a:solidFill>
                            <a:srgbClr val="20332C"/>
                          </a:solidFill>
                          <a:latin typeface="Calibri"/>
                        </a:defRPr>
                      </a:pPr>
                      <a:r>
                        <a:t>2,222</a:t>
                      </a:r>
                    </a:p>
                  </a:txBody>
                  <a:tcPr marL="109728" marR="109728" marT="73152" anchor="ctr">
                    <a:solidFill>
                      <a:srgbClr val="FFFFFF"/>
                    </a:solidFill>
                  </a:tcPr>
                </a:tc>
                <a:tc>
                  <a:txBody>
                    <a:bodyPr/>
                    <a:lstStyle/>
                    <a:p>
                      <a:pPr algn="ctr">
                        <a:defRPr sz="1900" b="0">
                          <a:solidFill>
                            <a:srgbClr val="20332C"/>
                          </a:solidFill>
                          <a:latin typeface="Calibri"/>
                        </a:defRPr>
                      </a:pPr>
                      <a:r>
                        <a:t>1,549</a:t>
                      </a:r>
                    </a:p>
                  </a:txBody>
                  <a:tcPr marL="109728" marR="109728" marT="73152" anchor="ctr">
                    <a:solidFill>
                      <a:srgbClr val="FFFFFF"/>
                    </a:solidFill>
                  </a:tcPr>
                </a:tc>
                <a:tc>
                  <a:txBody>
                    <a:bodyPr/>
                    <a:lstStyle/>
                    <a:p>
                      <a:pPr algn="ctr">
                        <a:defRPr sz="1900" b="0">
                          <a:solidFill>
                            <a:srgbClr val="20332C"/>
                          </a:solidFill>
                          <a:latin typeface="Calibri"/>
                        </a:defRPr>
                      </a:pPr>
                      <a:r>
                        <a:t>2,214</a:t>
                      </a:r>
                    </a:p>
                  </a:txBody>
                  <a:tcPr marL="109728" marR="109728" marT="73152" anchor="ctr">
                    <a:solidFill>
                      <a:srgbClr val="FFFFFF"/>
                    </a:solidFill>
                  </a:tcPr>
                </a:tc>
                <a:tc>
                  <a:txBody>
                    <a:bodyPr/>
                    <a:lstStyle/>
                    <a:p>
                      <a:pPr algn="ctr">
                        <a:defRPr sz="1900" b="0">
                          <a:solidFill>
                            <a:srgbClr val="20332C"/>
                          </a:solidFill>
                          <a:latin typeface="Calibri"/>
                        </a:defRPr>
                      </a:pPr>
                      <a:r>
                        <a:t>0,5571</a:t>
                      </a:r>
                    </a:p>
                  </a:txBody>
                  <a:tcPr marL="109728" marR="109728" marT="73152" anchor="ctr">
                    <a:solidFill>
                      <a:srgbClr val="FFFFFF"/>
                    </a:solidFill>
                  </a:tcPr>
                </a:tc>
                <a:extLst>
                  <a:ext uri="{0D108BD9-81ED-4DB2-BD59-A6C34878D82A}">
                    <a16:rowId xmlns:a16="http://schemas.microsoft.com/office/drawing/2014/main" val="10002"/>
                  </a:ext>
                </a:extLst>
              </a:tr>
              <a:tr h="425196">
                <a:tc>
                  <a:txBody>
                    <a:bodyPr/>
                    <a:lstStyle/>
                    <a:p>
                      <a:pPr>
                        <a:defRPr sz="1900" b="0">
                          <a:solidFill>
                            <a:srgbClr val="20332C"/>
                          </a:solidFill>
                          <a:latin typeface="Calibri"/>
                        </a:defRPr>
                      </a:pPr>
                      <a:r>
                        <a:t>Pohon regresi</a:t>
                      </a:r>
                    </a:p>
                  </a:txBody>
                  <a:tcPr marL="109728" marR="109728" marT="73152" anchor="ctr">
                    <a:solidFill>
                      <a:srgbClr val="ECF3EF"/>
                    </a:solidFill>
                  </a:tcPr>
                </a:tc>
                <a:tc>
                  <a:txBody>
                    <a:bodyPr/>
                    <a:lstStyle/>
                    <a:p>
                      <a:pPr algn="ctr">
                        <a:defRPr sz="1900" b="0">
                          <a:solidFill>
                            <a:srgbClr val="20332C"/>
                          </a:solidFill>
                          <a:latin typeface="Calibri"/>
                        </a:defRPr>
                      </a:pPr>
                      <a:r>
                        <a:t>2,296</a:t>
                      </a:r>
                    </a:p>
                  </a:txBody>
                  <a:tcPr marL="109728" marR="109728" marT="73152" anchor="ctr">
                    <a:solidFill>
                      <a:srgbClr val="ECF3EF"/>
                    </a:solidFill>
                  </a:tcPr>
                </a:tc>
                <a:tc>
                  <a:txBody>
                    <a:bodyPr/>
                    <a:lstStyle/>
                    <a:p>
                      <a:pPr algn="ctr">
                        <a:defRPr sz="1900" b="0">
                          <a:solidFill>
                            <a:srgbClr val="20332C"/>
                          </a:solidFill>
                          <a:latin typeface="Calibri"/>
                        </a:defRPr>
                      </a:pPr>
                      <a:r>
                        <a:t>1,671</a:t>
                      </a:r>
                    </a:p>
                  </a:txBody>
                  <a:tcPr marL="109728" marR="109728" marT="73152" anchor="ctr">
                    <a:solidFill>
                      <a:srgbClr val="ECF3EF"/>
                    </a:solidFill>
                  </a:tcPr>
                </a:tc>
                <a:tc>
                  <a:txBody>
                    <a:bodyPr/>
                    <a:lstStyle/>
                    <a:p>
                      <a:pPr algn="ctr">
                        <a:defRPr sz="1900" b="0">
                          <a:solidFill>
                            <a:srgbClr val="20332C"/>
                          </a:solidFill>
                          <a:latin typeface="Calibri"/>
                        </a:defRPr>
                      </a:pPr>
                      <a:r>
                        <a:t>2,426</a:t>
                      </a:r>
                    </a:p>
                  </a:txBody>
                  <a:tcPr marL="109728" marR="109728" marT="73152" anchor="ctr">
                    <a:solidFill>
                      <a:srgbClr val="ECF3EF"/>
                    </a:solidFill>
                  </a:tcPr>
                </a:tc>
                <a:tc>
                  <a:txBody>
                    <a:bodyPr/>
                    <a:lstStyle/>
                    <a:p>
                      <a:pPr algn="ctr">
                        <a:defRPr sz="1900" b="0">
                          <a:solidFill>
                            <a:srgbClr val="20332C"/>
                          </a:solidFill>
                          <a:latin typeface="Calibri"/>
                        </a:defRPr>
                      </a:pPr>
                      <a:r>
                        <a:t>0,4681</a:t>
                      </a:r>
                    </a:p>
                  </a:txBody>
                  <a:tcPr marL="109728" marR="109728" marT="73152" anchor="ctr">
                    <a:solidFill>
                      <a:srgbClr val="ECF3EF"/>
                    </a:solidFill>
                  </a:tcPr>
                </a:tc>
                <a:extLst>
                  <a:ext uri="{0D108BD9-81ED-4DB2-BD59-A6C34878D82A}">
                    <a16:rowId xmlns:a16="http://schemas.microsoft.com/office/drawing/2014/main" val="10003"/>
                  </a:ext>
                </a:extLst>
              </a:tr>
              <a:tr h="425196">
                <a:tc>
                  <a:txBody>
                    <a:bodyPr/>
                    <a:lstStyle/>
                    <a:p>
                      <a:pPr>
                        <a:defRPr sz="1900" b="0">
                          <a:solidFill>
                            <a:srgbClr val="20332C"/>
                          </a:solidFill>
                          <a:latin typeface="Calibri"/>
                        </a:defRPr>
                      </a:pPr>
                      <a:r>
                        <a:t>Regresi sederhana</a:t>
                      </a:r>
                    </a:p>
                  </a:txBody>
                  <a:tcPr marL="109728" marR="109728" marT="73152" anchor="ctr">
                    <a:solidFill>
                      <a:srgbClr val="FFFFFF"/>
                    </a:solidFill>
                  </a:tcPr>
                </a:tc>
                <a:tc>
                  <a:txBody>
                    <a:bodyPr/>
                    <a:lstStyle/>
                    <a:p>
                      <a:pPr algn="ctr">
                        <a:defRPr sz="1900" b="0">
                          <a:solidFill>
                            <a:srgbClr val="20332C"/>
                          </a:solidFill>
                          <a:latin typeface="Calibri"/>
                        </a:defRPr>
                      </a:pPr>
                      <a:r>
                        <a:t>2,494</a:t>
                      </a:r>
                    </a:p>
                  </a:txBody>
                  <a:tcPr marL="109728" marR="109728" marT="73152" anchor="ctr">
                    <a:solidFill>
                      <a:srgbClr val="FFFFFF"/>
                    </a:solidFill>
                  </a:tcPr>
                </a:tc>
                <a:tc>
                  <a:txBody>
                    <a:bodyPr/>
                    <a:lstStyle/>
                    <a:p>
                      <a:pPr algn="ctr">
                        <a:defRPr sz="1900" b="0">
                          <a:solidFill>
                            <a:srgbClr val="20332C"/>
                          </a:solidFill>
                          <a:latin typeface="Calibri"/>
                        </a:defRPr>
                      </a:pPr>
                      <a:r>
                        <a:t>1,837</a:t>
                      </a:r>
                    </a:p>
                  </a:txBody>
                  <a:tcPr marL="109728" marR="109728" marT="73152" anchor="ctr">
                    <a:solidFill>
                      <a:srgbClr val="FFFFFF"/>
                    </a:solidFill>
                  </a:tcPr>
                </a:tc>
                <a:tc>
                  <a:txBody>
                    <a:bodyPr/>
                    <a:lstStyle/>
                    <a:p>
                      <a:pPr algn="ctr">
                        <a:defRPr sz="1900" b="0">
                          <a:solidFill>
                            <a:srgbClr val="20332C"/>
                          </a:solidFill>
                          <a:latin typeface="Calibri"/>
                        </a:defRPr>
                      </a:pPr>
                      <a:r>
                        <a:t>2,579</a:t>
                      </a:r>
                    </a:p>
                  </a:txBody>
                  <a:tcPr marL="109728" marR="109728" marT="73152" anchor="ctr">
                    <a:solidFill>
                      <a:srgbClr val="FFFFFF"/>
                    </a:solidFill>
                  </a:tcPr>
                </a:tc>
                <a:tc>
                  <a:txBody>
                    <a:bodyPr/>
                    <a:lstStyle/>
                    <a:p>
                      <a:pPr algn="ctr">
                        <a:defRPr sz="1900" b="0">
                          <a:solidFill>
                            <a:srgbClr val="20332C"/>
                          </a:solidFill>
                          <a:latin typeface="Calibri"/>
                        </a:defRPr>
                      </a:pPr>
                      <a:r>
                        <a:t>0,3989</a:t>
                      </a:r>
                    </a:p>
                  </a:txBody>
                  <a:tcPr marL="109728" marR="109728" marT="73152" anchor="ctr">
                    <a:solidFill>
                      <a:srgbClr val="FFFFFF"/>
                    </a:solidFill>
                  </a:tcPr>
                </a:tc>
                <a:extLst>
                  <a:ext uri="{0D108BD9-81ED-4DB2-BD59-A6C34878D82A}">
                    <a16:rowId xmlns:a16="http://schemas.microsoft.com/office/drawing/2014/main" val="10004"/>
                  </a:ext>
                </a:extLst>
              </a:tr>
              <a:tr h="425196">
                <a:tc>
                  <a:txBody>
                    <a:bodyPr/>
                    <a:lstStyle/>
                    <a:p>
                      <a:pPr>
                        <a:defRPr sz="1900" b="0">
                          <a:solidFill>
                            <a:srgbClr val="20332C"/>
                          </a:solidFill>
                          <a:latin typeface="Calibri"/>
                        </a:defRPr>
                      </a:pPr>
                      <a:r>
                        <a:t>Rata-rata</a:t>
                      </a:r>
                    </a:p>
                  </a:txBody>
                  <a:tcPr marL="109728" marR="109728" marT="73152" anchor="ctr">
                    <a:solidFill>
                      <a:srgbClr val="ECF3EF"/>
                    </a:solidFill>
                  </a:tcPr>
                </a:tc>
                <a:tc>
                  <a:txBody>
                    <a:bodyPr/>
                    <a:lstStyle/>
                    <a:p>
                      <a:pPr algn="ctr">
                        <a:defRPr sz="1900" b="0">
                          <a:solidFill>
                            <a:srgbClr val="20332C"/>
                          </a:solidFill>
                          <a:latin typeface="Calibri"/>
                        </a:defRPr>
                      </a:pPr>
                      <a:r>
                        <a:t>3,198</a:t>
                      </a:r>
                    </a:p>
                  </a:txBody>
                  <a:tcPr marL="109728" marR="109728" marT="73152" anchor="ctr">
                    <a:solidFill>
                      <a:srgbClr val="ECF3EF"/>
                    </a:solidFill>
                  </a:tcPr>
                </a:tc>
                <a:tc>
                  <a:txBody>
                    <a:bodyPr/>
                    <a:lstStyle/>
                    <a:p>
                      <a:pPr algn="ctr">
                        <a:defRPr sz="1900" b="0">
                          <a:solidFill>
                            <a:srgbClr val="20332C"/>
                          </a:solidFill>
                          <a:latin typeface="Calibri"/>
                        </a:defRPr>
                      </a:pPr>
                      <a:r>
                        <a:t>2,395</a:t>
                      </a:r>
                    </a:p>
                  </a:txBody>
                  <a:tcPr marL="109728" marR="109728" marT="73152" anchor="ctr">
                    <a:solidFill>
                      <a:srgbClr val="ECF3EF"/>
                    </a:solidFill>
                  </a:tcPr>
                </a:tc>
                <a:tc>
                  <a:txBody>
                    <a:bodyPr/>
                    <a:lstStyle/>
                    <a:p>
                      <a:pPr algn="ctr">
                        <a:defRPr sz="1900" b="0">
                          <a:solidFill>
                            <a:srgbClr val="20332C"/>
                          </a:solidFill>
                          <a:latin typeface="Calibri"/>
                        </a:defRPr>
                      </a:pPr>
                      <a:r>
                        <a:t>3,327</a:t>
                      </a:r>
                    </a:p>
                  </a:txBody>
                  <a:tcPr marL="109728" marR="109728" marT="73152" anchor="ctr">
                    <a:solidFill>
                      <a:srgbClr val="ECF3EF"/>
                    </a:solidFill>
                  </a:tcPr>
                </a:tc>
                <a:tc>
                  <a:txBody>
                    <a:bodyPr/>
                    <a:lstStyle/>
                    <a:p>
                      <a:pPr algn="ctr">
                        <a:defRPr sz="1900" b="0">
                          <a:solidFill>
                            <a:srgbClr val="20332C"/>
                          </a:solidFill>
                          <a:latin typeface="Calibri"/>
                        </a:defRPr>
                      </a:pPr>
                      <a:r>
                        <a:t>-0,0002</a:t>
                      </a:r>
                    </a:p>
                  </a:txBody>
                  <a:tcPr marL="109728" marR="109728" marT="73152" anchor="ctr">
                    <a:solidFill>
                      <a:srgbClr val="ECF3EF"/>
                    </a:solidFill>
                  </a:tcPr>
                </a:tc>
                <a:extLst>
                  <a:ext uri="{0D108BD9-81ED-4DB2-BD59-A6C34878D82A}">
                    <a16:rowId xmlns:a16="http://schemas.microsoft.com/office/drawing/2014/main" val="10005"/>
                  </a:ext>
                </a:extLst>
              </a:tr>
            </a:tbl>
          </a:graphicData>
        </a:graphic>
      </p:graphicFrame>
      <p:sp>
        <p:nvSpPr>
          <p:cNvPr id="13" name="Rounded Rectangle 12"/>
          <p:cNvSpPr/>
          <p:nvPr/>
        </p:nvSpPr>
        <p:spPr>
          <a:xfrm>
            <a:off x="521207" y="5477256"/>
            <a:ext cx="11128248" cy="694944"/>
          </a:xfrm>
          <a:prstGeom prst="roundRect">
            <a:avLst>
              <a:gd name="adj" fmla="val 10000"/>
            </a:avLst>
          </a:prstGeom>
          <a:solidFill>
            <a:srgbClr val="FFF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5577840"/>
            <a:ext cx="10698480" cy="557784"/>
          </a:xfrm>
          <a:prstGeom prst="rect">
            <a:avLst/>
          </a:prstGeom>
          <a:noFill/>
        </p:spPr>
        <p:txBody>
          <a:bodyPr wrap="square" lIns="18288" tIns="0" rIns="18288" bIns="0">
            <a:spAutoFit/>
          </a:bodyPr>
          <a:lstStyle/>
          <a:p>
            <a:pPr algn="l">
              <a:spcAft>
                <a:spcPts val="600"/>
              </a:spcAft>
              <a:defRPr sz="1700" b="1">
                <a:solidFill>
                  <a:srgbClr val="174C3F"/>
                </a:solidFill>
                <a:latin typeface="Calibri"/>
              </a:defRPr>
            </a:pPr>
            <a:r>
              <a:t>Δ RMSE (RF − OLS berganda) = +0,030 Rings</a:t>
            </a:r>
          </a:p>
          <a:p>
            <a:pPr algn="l">
              <a:spcAft>
                <a:spcPts val="600"/>
              </a:spcAft>
              <a:defRPr sz="1700" b="1">
                <a:solidFill>
                  <a:srgbClr val="174C3F"/>
                </a:solidFill>
                <a:latin typeface="Calibri"/>
              </a:defRPr>
            </a:pPr>
            <a:r>
              <a:t>CI 95% [−0,060; +0,126] mencakup nol → tidak ada dasar kuat untuk klaim unggul pasti.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292608"/>
            <a:ext cx="502920" cy="41148"/>
          </a:xfrm>
          <a:prstGeom prst="rect">
            <a:avLst/>
          </a:prstGeom>
          <a:solidFill>
            <a:srgbClr val="C39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15568" y="201168"/>
            <a:ext cx="9144000" cy="256032"/>
          </a:xfrm>
          <a:prstGeom prst="rect">
            <a:avLst/>
          </a:prstGeom>
          <a:noFill/>
        </p:spPr>
        <p:txBody>
          <a:bodyPr wrap="square" lIns="18288" tIns="0" rIns="18288" bIns="0">
            <a:spAutoFit/>
          </a:bodyPr>
          <a:lstStyle/>
          <a:p>
            <a:pPr algn="l">
              <a:spcAft>
                <a:spcPts val="600"/>
              </a:spcAft>
              <a:defRPr sz="1100" b="1">
                <a:solidFill>
                  <a:srgbClr val="586B62"/>
                </a:solidFill>
                <a:latin typeface="Calibri"/>
              </a:defRPr>
            </a:pPr>
            <a:r>
              <a:t>PRODUK, BATAS KLAIM &amp; DEMO</a:t>
            </a:r>
          </a:p>
        </p:txBody>
      </p:sp>
      <p:sp>
        <p:nvSpPr>
          <p:cNvPr id="4" name="TextBox 3"/>
          <p:cNvSpPr txBox="1"/>
          <p:nvPr/>
        </p:nvSpPr>
        <p:spPr>
          <a:xfrm>
            <a:off x="10945368" y="164592"/>
            <a:ext cx="685800" cy="411480"/>
          </a:xfrm>
          <a:prstGeom prst="rect">
            <a:avLst/>
          </a:prstGeom>
          <a:noFill/>
        </p:spPr>
        <p:txBody>
          <a:bodyPr wrap="square" lIns="18288" tIns="0" rIns="18288" bIns="0">
            <a:spAutoFit/>
          </a:bodyPr>
          <a:lstStyle/>
          <a:p>
            <a:pPr algn="r">
              <a:spcAft>
                <a:spcPts val="600"/>
              </a:spcAft>
              <a:defRPr sz="2200" b="1">
                <a:solidFill>
                  <a:srgbClr val="174C3F"/>
                </a:solidFill>
                <a:latin typeface="Calibri"/>
              </a:defRPr>
            </a:pPr>
            <a:r>
              <a:t>07</a:t>
            </a:r>
          </a:p>
        </p:txBody>
      </p:sp>
      <p:sp>
        <p:nvSpPr>
          <p:cNvPr id="5" name="TextBox 4"/>
          <p:cNvSpPr txBox="1"/>
          <p:nvPr/>
        </p:nvSpPr>
        <p:spPr>
          <a:xfrm>
            <a:off x="502920" y="713232"/>
            <a:ext cx="11109960" cy="886968"/>
          </a:xfrm>
          <a:prstGeom prst="rect">
            <a:avLst/>
          </a:prstGeom>
          <a:noFill/>
        </p:spPr>
        <p:txBody>
          <a:bodyPr wrap="square" lIns="18288" tIns="0" rIns="18288" bIns="0">
            <a:spAutoFit/>
          </a:bodyPr>
          <a:lstStyle/>
          <a:p>
            <a:pPr algn="l">
              <a:spcAft>
                <a:spcPts val="600"/>
              </a:spcAft>
              <a:defRPr sz="3200" b="1">
                <a:solidFill>
                  <a:srgbClr val="174C3F"/>
                </a:solidFill>
                <a:latin typeface="Calibri"/>
              </a:defRPr>
            </a:pPr>
            <a:r>
              <a:t>Dua tujuan analisis yang saling melengkapi</a:t>
            </a:r>
          </a:p>
        </p:txBody>
      </p:sp>
      <p:sp>
        <p:nvSpPr>
          <p:cNvPr id="6" name="TextBox 5"/>
          <p:cNvSpPr txBox="1"/>
          <p:nvPr/>
        </p:nvSpPr>
        <p:spPr>
          <a:xfrm>
            <a:off x="521207" y="1517904"/>
            <a:ext cx="11064240" cy="502920"/>
          </a:xfrm>
          <a:prstGeom prst="rect">
            <a:avLst/>
          </a:prstGeom>
          <a:noFill/>
        </p:spPr>
        <p:txBody>
          <a:bodyPr wrap="square" lIns="18288" tIns="0" rIns="18288" bIns="0">
            <a:spAutoFit/>
          </a:bodyPr>
          <a:lstStyle/>
          <a:p>
            <a:pPr algn="l">
              <a:spcAft>
                <a:spcPts val="600"/>
              </a:spcAft>
              <a:defRPr sz="1700" b="0">
                <a:solidFill>
                  <a:srgbClr val="586B62"/>
                </a:solidFill>
                <a:latin typeface="Calibri"/>
              </a:defRPr>
            </a:pPr>
            <a:r>
              <a:t>Inferensi memberi asosiasi dan ketidakpastian; prediksi memberi ukuran galat.</a:t>
            </a:r>
          </a:p>
        </p:txBody>
      </p:sp>
      <p:sp>
        <p:nvSpPr>
          <p:cNvPr id="7" name="Rectangle 6"/>
          <p:cNvSpPr/>
          <p:nvPr/>
        </p:nvSpPr>
        <p:spPr>
          <a:xfrm>
            <a:off x="502920" y="6428232"/>
            <a:ext cx="11155680" cy="13716"/>
          </a:xfrm>
          <a:prstGeom prst="rect">
            <a:avLst/>
          </a:prstGeom>
          <a:solidFill>
            <a:srgbClr val="D5E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19672"/>
            <a:ext cx="10469880" cy="192024"/>
          </a:xfrm>
          <a:prstGeom prst="rect">
            <a:avLst/>
          </a:prstGeom>
          <a:noFill/>
        </p:spPr>
        <p:txBody>
          <a:bodyPr wrap="square" lIns="18288" tIns="0" rIns="18288" bIns="0">
            <a:spAutoFit/>
          </a:bodyPr>
          <a:lstStyle/>
          <a:p>
            <a:pPr algn="l">
              <a:spcAft>
                <a:spcPts val="600"/>
              </a:spcAft>
              <a:defRPr sz="900" b="0">
                <a:solidFill>
                  <a:srgbClr val="586B62"/>
                </a:solidFill>
                <a:latin typeface="Calibri"/>
              </a:defRPr>
            </a:pPr>
            <a:r>
              <a:t>Luaran sesuai gambar: notebook, kode, dashboard ≤ 3 tab, laporan 5 halaman, PPT 7 slide, demo ± 3 menit, README dan dictionary.</a:t>
            </a:r>
          </a:p>
        </p:txBody>
      </p:sp>
      <p:sp>
        <p:nvSpPr>
          <p:cNvPr id="9" name="TextBox 8"/>
          <p:cNvSpPr txBox="1"/>
          <p:nvPr/>
        </p:nvSpPr>
        <p:spPr>
          <a:xfrm>
            <a:off x="11045952" y="6492240"/>
            <a:ext cx="594360" cy="228600"/>
          </a:xfrm>
          <a:prstGeom prst="rect">
            <a:avLst/>
          </a:prstGeom>
          <a:noFill/>
        </p:spPr>
        <p:txBody>
          <a:bodyPr wrap="square" lIns="18288" tIns="0" rIns="18288" bIns="0">
            <a:spAutoFit/>
          </a:bodyPr>
          <a:lstStyle/>
          <a:p>
            <a:pPr algn="r">
              <a:spcAft>
                <a:spcPts val="600"/>
              </a:spcAft>
              <a:defRPr sz="1000" b="0">
                <a:solidFill>
                  <a:srgbClr val="586B62"/>
                </a:solidFill>
                <a:latin typeface="Calibri"/>
              </a:defRPr>
            </a:pPr>
            <a:r>
              <a:t>7 / 7</a:t>
            </a:r>
          </a:p>
        </p:txBody>
      </p:sp>
      <p:pic>
        <p:nvPicPr>
          <p:cNvPr id="10" name="Picture 9" descr="dashboard_prediction.png"/>
          <p:cNvPicPr>
            <a:picLocks noChangeAspect="1"/>
          </p:cNvPicPr>
          <p:nvPr/>
        </p:nvPicPr>
        <p:blipFill>
          <a:blip r:embed="rId3"/>
          <a:stretch>
            <a:fillRect/>
          </a:stretch>
        </p:blipFill>
        <p:spPr>
          <a:xfrm>
            <a:off x="991026" y="2121408"/>
            <a:ext cx="4775362" cy="3730752"/>
          </a:xfrm>
          <a:prstGeom prst="rect">
            <a:avLst/>
          </a:prstGeom>
        </p:spPr>
      </p:pic>
      <p:sp>
        <p:nvSpPr>
          <p:cNvPr id="11" name="TextBox 10"/>
          <p:cNvSpPr txBox="1"/>
          <p:nvPr/>
        </p:nvSpPr>
        <p:spPr>
          <a:xfrm>
            <a:off x="6537960" y="2185416"/>
            <a:ext cx="5074920" cy="292608"/>
          </a:xfrm>
          <a:prstGeom prst="rect">
            <a:avLst/>
          </a:prstGeom>
          <a:noFill/>
        </p:spPr>
        <p:txBody>
          <a:bodyPr wrap="square" lIns="18288" tIns="0" rIns="18288" bIns="0">
            <a:spAutoFit/>
          </a:bodyPr>
          <a:lstStyle/>
          <a:p>
            <a:pPr algn="l">
              <a:spcAft>
                <a:spcPts val="600"/>
              </a:spcAft>
              <a:defRPr sz="1400" b="1">
                <a:solidFill>
                  <a:srgbClr val="174C3F"/>
                </a:solidFill>
                <a:latin typeface="Calibri"/>
              </a:defRPr>
            </a:pPr>
            <a:r>
              <a:t>DASHBOARD: TEPAT 3 TAB</a:t>
            </a:r>
          </a:p>
        </p:txBody>
      </p:sp>
      <p:sp>
        <p:nvSpPr>
          <p:cNvPr id="12" name="TextBox 11"/>
          <p:cNvSpPr txBox="1"/>
          <p:nvPr/>
        </p:nvSpPr>
        <p:spPr>
          <a:xfrm>
            <a:off x="6519672" y="2651760"/>
            <a:ext cx="5029200" cy="1325880"/>
          </a:xfrm>
          <a:prstGeom prst="rect">
            <a:avLst/>
          </a:prstGeom>
          <a:noFill/>
        </p:spPr>
        <p:txBody>
          <a:bodyPr wrap="square" lIns="18288" tIns="0" rIns="18288" bIns="0">
            <a:spAutoFit/>
          </a:bodyPr>
          <a:lstStyle/>
          <a:p>
            <a:pPr algn="l">
              <a:spcAft>
                <a:spcPts val="600"/>
              </a:spcAft>
              <a:defRPr sz="2300" b="1">
                <a:solidFill>
                  <a:srgbClr val="174C3F"/>
                </a:solidFill>
                <a:latin typeface="Calibri"/>
              </a:defRPr>
            </a:pPr>
            <a:r>
              <a:t>1   Data &amp; EDA</a:t>
            </a:r>
          </a:p>
          <a:p>
            <a:pPr algn="l">
              <a:spcAft>
                <a:spcPts val="600"/>
              </a:spcAft>
              <a:defRPr sz="2300" b="1">
                <a:solidFill>
                  <a:srgbClr val="174C3F"/>
                </a:solidFill>
                <a:latin typeface="Calibri"/>
              </a:defRPr>
            </a:pPr>
            <a:r>
              <a:t>2   Model &amp; diagnostik</a:t>
            </a:r>
          </a:p>
          <a:p>
            <a:pPr algn="l">
              <a:spcAft>
                <a:spcPts val="600"/>
              </a:spcAft>
              <a:defRPr sz="2300" b="1">
                <a:solidFill>
                  <a:srgbClr val="174C3F"/>
                </a:solidFill>
                <a:latin typeface="Calibri"/>
              </a:defRPr>
            </a:pPr>
            <a:r>
              <a:t>3   Prediksi &amp; benchmark</a:t>
            </a:r>
          </a:p>
        </p:txBody>
      </p:sp>
      <p:sp>
        <p:nvSpPr>
          <p:cNvPr id="13" name="TextBox 12"/>
          <p:cNvSpPr txBox="1"/>
          <p:nvPr/>
        </p:nvSpPr>
        <p:spPr>
          <a:xfrm>
            <a:off x="6519672" y="4160520"/>
            <a:ext cx="5074920" cy="832104"/>
          </a:xfrm>
          <a:prstGeom prst="rect">
            <a:avLst/>
          </a:prstGeom>
          <a:noFill/>
        </p:spPr>
        <p:txBody>
          <a:bodyPr wrap="square" lIns="18288" tIns="0" rIns="18288" bIns="0">
            <a:spAutoFit/>
          </a:bodyPr>
          <a:lstStyle/>
          <a:p>
            <a:pPr algn="l">
              <a:spcAft>
                <a:spcPts val="600"/>
              </a:spcAft>
              <a:defRPr sz="2000" b="0">
                <a:solidFill>
                  <a:srgbClr val="20332C"/>
                </a:solidFill>
                <a:latin typeface="Calibri"/>
              </a:defRPr>
            </a:pPr>
            <a:r>
              <a:t>Batas: data observasional, kolinearitas,</a:t>
            </a:r>
          </a:p>
          <a:p>
            <a:pPr algn="l">
              <a:spcAft>
                <a:spcPts val="600"/>
              </a:spcAft>
              <a:defRPr sz="2000" b="0">
                <a:solidFill>
                  <a:srgbClr val="20332C"/>
                </a:solidFill>
                <a:latin typeface="Calibri"/>
              </a:defRPr>
            </a:pPr>
            <a:r>
              <a:t>titik ekstrem, dan belum ada validasi eksternal.</a:t>
            </a:r>
          </a:p>
        </p:txBody>
      </p:sp>
      <p:sp>
        <p:nvSpPr>
          <p:cNvPr id="14" name="TextBox 13"/>
          <p:cNvSpPr txBox="1"/>
          <p:nvPr/>
        </p:nvSpPr>
        <p:spPr>
          <a:xfrm>
            <a:off x="6519672" y="5202936"/>
            <a:ext cx="5074920" cy="585216"/>
          </a:xfrm>
          <a:prstGeom prst="rect">
            <a:avLst/>
          </a:prstGeom>
          <a:noFill/>
        </p:spPr>
        <p:txBody>
          <a:bodyPr wrap="square" lIns="18288" tIns="0" rIns="18288" bIns="0">
            <a:spAutoFit/>
          </a:bodyPr>
          <a:lstStyle/>
          <a:p>
            <a:pPr algn="l">
              <a:spcAft>
                <a:spcPts val="600"/>
              </a:spcAft>
              <a:defRPr sz="1600" b="0">
                <a:solidFill>
                  <a:srgbClr val="586B62"/>
                </a:solidFill>
                <a:latin typeface="Calibri"/>
              </a:defRPr>
            </a:pPr>
            <a:r>
              <a:t>R tersedia sebagai skrip + R Markdown + Shiny.</a:t>
            </a:r>
          </a:p>
          <a:p>
            <a:pPr algn="l">
              <a:spcAft>
                <a:spcPts val="600"/>
              </a:spcAft>
              <a:defRPr sz="1600" b="0">
                <a:solidFill>
                  <a:srgbClr val="586B62"/>
                </a:solidFill>
                <a:latin typeface="Calibri"/>
              </a:defRPr>
            </a:pPr>
            <a:r>
              <a:t>Demo offline memakai model Python yang diberi label.</a:t>
            </a:r>
          </a:p>
        </p:txBody>
      </p:sp>
      <p:sp>
        <p:nvSpPr>
          <p:cNvPr id="15" name="Rounded Rectangle 14"/>
          <p:cNvSpPr/>
          <p:nvPr/>
        </p:nvSpPr>
        <p:spPr>
          <a:xfrm>
            <a:off x="521207" y="5961888"/>
            <a:ext cx="5303520" cy="338328"/>
          </a:xfrm>
          <a:prstGeom prst="roundRect">
            <a:avLst>
              <a:gd name="adj" fmla="val 10000"/>
            </a:avLst>
          </a:prstGeom>
          <a:solidFill>
            <a:srgbClr val="EC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2647" y="6012179"/>
            <a:ext cx="5120640" cy="246888"/>
          </a:xfrm>
          <a:prstGeom prst="rect">
            <a:avLst/>
          </a:prstGeom>
          <a:noFill/>
        </p:spPr>
        <p:txBody>
          <a:bodyPr wrap="square" lIns="18288" tIns="0" rIns="18288" bIns="0">
            <a:spAutoFit/>
          </a:bodyPr>
          <a:lstStyle/>
          <a:p>
            <a:pPr algn="l">
              <a:spcAft>
                <a:spcPts val="600"/>
              </a:spcAft>
              <a:defRPr sz="1100" b="1">
                <a:solidFill>
                  <a:srgbClr val="174C3F"/>
                </a:solidFill>
                <a:latin typeface="Calibri"/>
              </a:defRPr>
            </a:pPr>
            <a:r>
              <a:t>DEMO 180 DETIK SETELAH PAPARAN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2517</Words>
  <Application>Microsoft Office PowerPoint</Application>
  <PresentationFormat>Widescreen</PresentationFormat>
  <Paragraphs>213</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Perbandingan Statistika Inferensial vs Prediktif pada Data Abalone</dc:title>
  <dc:subject>Proposal, materi, validasi, dan hasil pendamping Python; rancangan R</dc:subject>
  <dc:creator>Tim Proyek Abalone</dc:creator>
  <cp:keywords/>
  <dc:description>generated using python-pptx</dc:description>
  <cp:lastModifiedBy>Dance Mote</cp:lastModifiedBy>
  <cp:revision>3</cp:revision>
  <dcterms:created xsi:type="dcterms:W3CDTF">2013-01-27T09:14:16Z</dcterms:created>
  <dcterms:modified xsi:type="dcterms:W3CDTF">2026-09-29T07:22:15Z</dcterms:modified>
  <cp:category/>
</cp:coreProperties>
</file>